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Canva Sans" charset="1" panose="020B0503030501040103"/>
      <p:regular r:id="rId30"/>
    </p:embeddedFont>
    <p:embeddedFont>
      <p:font typeface="Canva Sans Bold" charset="1" panose="020B0803030501040103"/>
      <p:regular r:id="rId31"/>
    </p:embeddedFont>
    <p:embeddedFont>
      <p:font typeface="Montserrat Bold" charset="1" panose="00000800000000000000"/>
      <p:regular r:id="rId32"/>
    </p:embeddedFont>
    <p:embeddedFont>
      <p:font typeface="Montserrat" charset="1" panose="000005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4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4.png" Type="http://schemas.openxmlformats.org/officeDocument/2006/relationships/image"/><Relationship Id="rId15" Target="../media/image25.png" Type="http://schemas.openxmlformats.org/officeDocument/2006/relationships/image"/><Relationship Id="rId16" Target="../media/image26.svg" Type="http://schemas.openxmlformats.org/officeDocument/2006/relationships/image"/><Relationship Id="rId17" Target="../media/image4.png" Type="http://schemas.openxmlformats.org/officeDocument/2006/relationships/image"/><Relationship Id="rId18" Target="../media/image27.png" Type="http://schemas.openxmlformats.org/officeDocument/2006/relationships/image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Relationship Id="rId6" Target="../media/image30.jpeg" Type="http://schemas.openxmlformats.org/officeDocument/2006/relationships/image"/><Relationship Id="rId7" Target="../media/image3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Relationship Id="rId6" Target="../media/image32.jpeg" Type="http://schemas.openxmlformats.org/officeDocument/2006/relationships/image"/><Relationship Id="rId7" Target="../media/image3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Relationship Id="rId6" Target="../media/image34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11" Target="../media/image41.png" Type="http://schemas.openxmlformats.org/officeDocument/2006/relationships/image"/><Relationship Id="rId12" Target="../media/image42.svg" Type="http://schemas.openxmlformats.org/officeDocument/2006/relationships/image"/><Relationship Id="rId13" Target="../media/image4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57782">
            <a:off x="16068485" y="-1762811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1" y="0"/>
                </a:lnTo>
                <a:lnTo>
                  <a:pt x="4705411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99442" y="530919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4" y="0"/>
                </a:lnTo>
                <a:lnTo>
                  <a:pt x="1895244" y="1707426"/>
                </a:lnTo>
                <a:lnTo>
                  <a:pt x="0" y="1707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454813">
            <a:off x="15828856" y="8425422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1" y="0"/>
                </a:lnTo>
                <a:lnTo>
                  <a:pt x="4705411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457782">
            <a:off x="-1853596" y="8424941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1" y="0"/>
                </a:lnTo>
                <a:lnTo>
                  <a:pt x="4705411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12551" y="1601654"/>
            <a:ext cx="7862899" cy="7083693"/>
          </a:xfrm>
          <a:custGeom>
            <a:avLst/>
            <a:gdLst/>
            <a:ahLst/>
            <a:cxnLst/>
            <a:rect r="r" b="b" t="t" l="l"/>
            <a:pathLst>
              <a:path h="7083693" w="7862899">
                <a:moveTo>
                  <a:pt x="0" y="0"/>
                </a:moveTo>
                <a:lnTo>
                  <a:pt x="7862898" y="0"/>
                </a:lnTo>
                <a:lnTo>
                  <a:pt x="7862898" y="7083692"/>
                </a:lnTo>
                <a:lnTo>
                  <a:pt x="0" y="7083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49806" y="424501"/>
            <a:ext cx="17388389" cy="9437999"/>
            <a:chOff x="0" y="0"/>
            <a:chExt cx="4579658" cy="24857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79658" cy="2485728"/>
            </a:xfrm>
            <a:custGeom>
              <a:avLst/>
              <a:gdLst/>
              <a:ahLst/>
              <a:cxnLst/>
              <a:rect r="r" b="b" t="t" l="l"/>
              <a:pathLst>
                <a:path h="2485728" w="4579658">
                  <a:moveTo>
                    <a:pt x="0" y="0"/>
                  </a:moveTo>
                  <a:lnTo>
                    <a:pt x="4579658" y="0"/>
                  </a:lnTo>
                  <a:lnTo>
                    <a:pt x="4579658" y="2485728"/>
                  </a:lnTo>
                  <a:lnTo>
                    <a:pt x="0" y="2485728"/>
                  </a:lnTo>
                  <a:close/>
                </a:path>
              </a:pathLst>
            </a:custGeom>
            <a:ln w="38100" cap="sq">
              <a:solidFill>
                <a:srgbClr val="000000">
                  <a:alpha val="57647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579658" cy="2523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572681" y="1325927"/>
            <a:ext cx="9142638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1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Department of Electronics Engineering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54413" y="2124045"/>
            <a:ext cx="10579175" cy="71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3999" b="true">
                <a:solidFill>
                  <a:srgbClr val="8512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Walchand College of Engineering, Sangli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72681" y="2762223"/>
            <a:ext cx="9142638" cy="518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9"/>
              </a:lnSpc>
            </a:pPr>
            <a:r>
              <a:rPr lang="en-US" sz="28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(Government-Aided Autonomous Institute)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54413" y="4512944"/>
            <a:ext cx="10579175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199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Project</a:t>
            </a:r>
            <a:r>
              <a:rPr lang="en-US" sz="3199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A.Y. 2025-2026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88558" y="5372100"/>
            <a:ext cx="13510884" cy="157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9"/>
              </a:lnSpc>
            </a:pPr>
            <a:r>
              <a:rPr lang="en-US" sz="4299" b="true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Interactive Vision with Object Tracking and Voice Command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54413" y="8033425"/>
            <a:ext cx="10579175" cy="518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49"/>
              </a:lnSpc>
              <a:spcBef>
                <a:spcPct val="0"/>
              </a:spcBef>
            </a:pPr>
            <a:r>
              <a:rPr lang="en-US" sz="28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Unde</a:t>
            </a:r>
            <a:r>
              <a:rPr lang="en-US" sz="2899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899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899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he</a:t>
            </a:r>
            <a:r>
              <a:rPr lang="en-US" sz="2899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guidance</a:t>
            </a:r>
            <a:r>
              <a:rPr lang="en-US" sz="2899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of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88558" y="8543923"/>
            <a:ext cx="13510884" cy="744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199" b="true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Prof. Sachin Ruikar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54413" y="3682362"/>
            <a:ext cx="10579175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1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Group No: 13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68024" y="3160210"/>
            <a:ext cx="1185314" cy="937880"/>
          </a:xfrm>
          <a:custGeom>
            <a:avLst/>
            <a:gdLst/>
            <a:ahLst/>
            <a:cxnLst/>
            <a:rect r="r" b="b" t="t" l="l"/>
            <a:pathLst>
              <a:path h="937880" w="1185314">
                <a:moveTo>
                  <a:pt x="0" y="0"/>
                </a:moveTo>
                <a:lnTo>
                  <a:pt x="1185315" y="0"/>
                </a:lnTo>
                <a:lnTo>
                  <a:pt x="1185315" y="937880"/>
                </a:lnTo>
                <a:lnTo>
                  <a:pt x="0" y="9378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4" id="4"/>
          <p:cNvSpPr/>
          <p:nvPr/>
        </p:nvSpPr>
        <p:spPr>
          <a:xfrm>
            <a:off x="1665002" y="3629150"/>
            <a:ext cx="613639" cy="0"/>
          </a:xfrm>
          <a:prstGeom prst="line">
            <a:avLst/>
          </a:prstGeom>
          <a:ln cap="flat" w="19050">
            <a:solidFill>
              <a:srgbClr val="3C5679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678243" y="3604373"/>
            <a:ext cx="0" cy="3521071"/>
          </a:xfrm>
          <a:prstGeom prst="line">
            <a:avLst/>
          </a:prstGeom>
          <a:ln cap="flat" w="19050">
            <a:solidFill>
              <a:srgbClr val="3C5679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305983" y="3370383"/>
            <a:ext cx="709396" cy="517534"/>
            <a:chOff x="0" y="0"/>
            <a:chExt cx="3168290" cy="2311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68290" cy="2311400"/>
            </a:xfrm>
            <a:custGeom>
              <a:avLst/>
              <a:gdLst/>
              <a:ahLst/>
              <a:cxnLst/>
              <a:rect r="r" b="b" t="t" l="l"/>
              <a:pathLst>
                <a:path h="2311400" w="3168290">
                  <a:moveTo>
                    <a:pt x="286349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863490" y="2311400"/>
                  </a:lnTo>
                  <a:cubicBezTo>
                    <a:pt x="3032400" y="2311400"/>
                    <a:pt x="3168290" y="2175510"/>
                    <a:pt x="3168290" y="2006600"/>
                  </a:cubicBezTo>
                  <a:lnTo>
                    <a:pt x="3168290" y="304800"/>
                  </a:lnTo>
                  <a:cubicBezTo>
                    <a:pt x="3168290" y="135890"/>
                    <a:pt x="3032400" y="0"/>
                    <a:pt x="2863490" y="0"/>
                  </a:cubicBezTo>
                  <a:close/>
                </a:path>
              </a:pathLst>
            </a:custGeom>
            <a:solidFill>
              <a:srgbClr val="33A685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678243" y="5328140"/>
            <a:ext cx="613639" cy="0"/>
          </a:xfrm>
          <a:prstGeom prst="line">
            <a:avLst/>
          </a:prstGeom>
          <a:ln cap="flat" w="19050">
            <a:solidFill>
              <a:srgbClr val="3C5679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665002" y="7027131"/>
            <a:ext cx="613639" cy="0"/>
          </a:xfrm>
          <a:prstGeom prst="line">
            <a:avLst/>
          </a:prstGeom>
          <a:ln cap="flat" w="19050">
            <a:solidFill>
              <a:srgbClr val="3C5679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068024" y="4859200"/>
            <a:ext cx="1185314" cy="937880"/>
          </a:xfrm>
          <a:custGeom>
            <a:avLst/>
            <a:gdLst/>
            <a:ahLst/>
            <a:cxnLst/>
            <a:rect r="r" b="b" t="t" l="l"/>
            <a:pathLst>
              <a:path h="937880" w="1185314">
                <a:moveTo>
                  <a:pt x="0" y="0"/>
                </a:moveTo>
                <a:lnTo>
                  <a:pt x="1185315" y="0"/>
                </a:lnTo>
                <a:lnTo>
                  <a:pt x="1185315" y="937880"/>
                </a:lnTo>
                <a:lnTo>
                  <a:pt x="0" y="9378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2305983" y="5069373"/>
            <a:ext cx="709396" cy="517534"/>
            <a:chOff x="0" y="0"/>
            <a:chExt cx="3168290" cy="2311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68290" cy="2311400"/>
            </a:xfrm>
            <a:custGeom>
              <a:avLst/>
              <a:gdLst/>
              <a:ahLst/>
              <a:cxnLst/>
              <a:rect r="r" b="b" t="t" l="l"/>
              <a:pathLst>
                <a:path h="2311400" w="3168290">
                  <a:moveTo>
                    <a:pt x="286349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863490" y="2311400"/>
                  </a:lnTo>
                  <a:cubicBezTo>
                    <a:pt x="3032400" y="2311400"/>
                    <a:pt x="3168290" y="2175510"/>
                    <a:pt x="3168290" y="2006600"/>
                  </a:cubicBezTo>
                  <a:lnTo>
                    <a:pt x="3168290" y="304800"/>
                  </a:lnTo>
                  <a:cubicBezTo>
                    <a:pt x="3168290" y="135890"/>
                    <a:pt x="3032400" y="0"/>
                    <a:pt x="2863490" y="0"/>
                  </a:cubicBezTo>
                  <a:close/>
                </a:path>
              </a:pathLst>
            </a:custGeom>
            <a:solidFill>
              <a:srgbClr val="33A685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068024" y="6558191"/>
            <a:ext cx="1185314" cy="937880"/>
          </a:xfrm>
          <a:custGeom>
            <a:avLst/>
            <a:gdLst/>
            <a:ahLst/>
            <a:cxnLst/>
            <a:rect r="r" b="b" t="t" l="l"/>
            <a:pathLst>
              <a:path h="937880" w="1185314">
                <a:moveTo>
                  <a:pt x="0" y="0"/>
                </a:moveTo>
                <a:lnTo>
                  <a:pt x="1185315" y="0"/>
                </a:lnTo>
                <a:lnTo>
                  <a:pt x="1185315" y="937880"/>
                </a:lnTo>
                <a:lnTo>
                  <a:pt x="0" y="9378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2305983" y="6768363"/>
            <a:ext cx="709396" cy="517534"/>
            <a:chOff x="0" y="0"/>
            <a:chExt cx="3168290" cy="2311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68290" cy="2311400"/>
            </a:xfrm>
            <a:custGeom>
              <a:avLst/>
              <a:gdLst/>
              <a:ahLst/>
              <a:cxnLst/>
              <a:rect r="r" b="b" t="t" l="l"/>
              <a:pathLst>
                <a:path h="2311400" w="3168290">
                  <a:moveTo>
                    <a:pt x="286349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863490" y="2311400"/>
                  </a:lnTo>
                  <a:cubicBezTo>
                    <a:pt x="3032400" y="2311400"/>
                    <a:pt x="3168290" y="2175510"/>
                    <a:pt x="3168290" y="2006600"/>
                  </a:cubicBezTo>
                  <a:lnTo>
                    <a:pt x="3168290" y="304800"/>
                  </a:lnTo>
                  <a:cubicBezTo>
                    <a:pt x="3168290" y="135890"/>
                    <a:pt x="3032400" y="0"/>
                    <a:pt x="2863490" y="0"/>
                  </a:cubicBezTo>
                  <a:close/>
                </a:path>
              </a:pathLst>
            </a:custGeom>
            <a:solidFill>
              <a:srgbClr val="33A685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2521510" y="6845454"/>
            <a:ext cx="227701" cy="363352"/>
          </a:xfrm>
          <a:custGeom>
            <a:avLst/>
            <a:gdLst/>
            <a:ahLst/>
            <a:cxnLst/>
            <a:rect r="r" b="b" t="t" l="l"/>
            <a:pathLst>
              <a:path h="363352" w="227701">
                <a:moveTo>
                  <a:pt x="0" y="0"/>
                </a:moveTo>
                <a:lnTo>
                  <a:pt x="227701" y="0"/>
                </a:lnTo>
                <a:lnTo>
                  <a:pt x="227701" y="363353"/>
                </a:lnTo>
                <a:lnTo>
                  <a:pt x="0" y="363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521510" y="5149901"/>
            <a:ext cx="227701" cy="356479"/>
          </a:xfrm>
          <a:custGeom>
            <a:avLst/>
            <a:gdLst/>
            <a:ahLst/>
            <a:cxnLst/>
            <a:rect r="r" b="b" t="t" l="l"/>
            <a:pathLst>
              <a:path h="356479" w="227701">
                <a:moveTo>
                  <a:pt x="0" y="0"/>
                </a:moveTo>
                <a:lnTo>
                  <a:pt x="227701" y="0"/>
                </a:lnTo>
                <a:lnTo>
                  <a:pt x="227701" y="356479"/>
                </a:lnTo>
                <a:lnTo>
                  <a:pt x="0" y="3564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532184" y="3436404"/>
            <a:ext cx="256995" cy="385492"/>
          </a:xfrm>
          <a:custGeom>
            <a:avLst/>
            <a:gdLst/>
            <a:ahLst/>
            <a:cxnLst/>
            <a:rect r="r" b="b" t="t" l="l"/>
            <a:pathLst>
              <a:path h="385492" w="256995">
                <a:moveTo>
                  <a:pt x="0" y="0"/>
                </a:moveTo>
                <a:lnTo>
                  <a:pt x="256995" y="0"/>
                </a:lnTo>
                <a:lnTo>
                  <a:pt x="256995" y="385492"/>
                </a:lnTo>
                <a:lnTo>
                  <a:pt x="0" y="3854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78243" y="1723206"/>
            <a:ext cx="10737804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b="true" sz="46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MEMBERS (GROUP - 13)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81914" y="3378798"/>
            <a:ext cx="3682688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Gayatri Dabhade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281914" y="5039786"/>
            <a:ext cx="3682688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Achala Paradeshi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81914" y="6720491"/>
            <a:ext cx="3682688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Akshat Gupta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61056" y="3378798"/>
            <a:ext cx="3407642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PRN - 22410052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70581" y="5011079"/>
            <a:ext cx="3407642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PRN - 22410053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70581" y="6720491"/>
            <a:ext cx="3407642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PRN - 22410063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59246" y="1762125"/>
            <a:ext cx="8429520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b="true" sz="46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09775" y="3139282"/>
            <a:ext cx="8115300" cy="552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889"/>
              </a:lnSpc>
              <a:buFont typeface="Arial"/>
              <a:buChar char="•"/>
            </a:pPr>
            <a:r>
              <a:rPr lang="en-US" b="true" sz="29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 </a:t>
            </a:r>
          </a:p>
          <a:p>
            <a:pPr algn="l" marL="647695" indent="-323848" lvl="1">
              <a:lnSpc>
                <a:spcPts val="4889"/>
              </a:lnSpc>
              <a:buFont typeface="Arial"/>
              <a:buChar char="•"/>
            </a:pPr>
            <a:r>
              <a:rPr lang="en-US" b="true" sz="29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Literature Survey</a:t>
            </a:r>
          </a:p>
          <a:p>
            <a:pPr algn="l" marL="647695" indent="-323848" lvl="1">
              <a:lnSpc>
                <a:spcPts val="4889"/>
              </a:lnSpc>
              <a:buFont typeface="Arial"/>
              <a:buChar char="•"/>
            </a:pPr>
            <a:r>
              <a:rPr lang="en-US" b="true" sz="29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Idea</a:t>
            </a:r>
          </a:p>
          <a:p>
            <a:pPr algn="l" marL="647695" indent="-323848" lvl="1">
              <a:lnSpc>
                <a:spcPts val="4889"/>
              </a:lnSpc>
              <a:buFont typeface="Arial"/>
              <a:buChar char="•"/>
            </a:pPr>
            <a:r>
              <a:rPr lang="en-US" b="true" sz="29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Components </a:t>
            </a:r>
          </a:p>
          <a:p>
            <a:pPr algn="l" marL="647695" indent="-323848" lvl="1">
              <a:lnSpc>
                <a:spcPts val="4889"/>
              </a:lnSpc>
              <a:buFont typeface="Arial"/>
              <a:buChar char="•"/>
            </a:pPr>
            <a:r>
              <a:rPr lang="en-US" b="true" sz="29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Block Diagram </a:t>
            </a:r>
          </a:p>
          <a:p>
            <a:pPr algn="l" marL="647695" indent="-323848" lvl="1">
              <a:lnSpc>
                <a:spcPts val="4889"/>
              </a:lnSpc>
              <a:buFont typeface="Arial"/>
              <a:buChar char="•"/>
            </a:pPr>
            <a:r>
              <a:rPr lang="en-US" b="true" sz="29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Working</a:t>
            </a:r>
          </a:p>
          <a:p>
            <a:pPr algn="l" marL="647695" indent="-323848" lvl="1">
              <a:lnSpc>
                <a:spcPts val="4889"/>
              </a:lnSpc>
              <a:buFont typeface="Arial"/>
              <a:buChar char="•"/>
            </a:pPr>
            <a:r>
              <a:rPr lang="en-US" b="true" sz="29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  <a:p>
            <a:pPr algn="l" marL="647695" indent="-323848" lvl="1">
              <a:lnSpc>
                <a:spcPts val="4889"/>
              </a:lnSpc>
              <a:buFont typeface="Arial"/>
              <a:buChar char="•"/>
            </a:pPr>
            <a:r>
              <a:rPr lang="en-US" b="true" sz="29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</a:t>
            </a:r>
          </a:p>
          <a:p>
            <a:pPr algn="l" marL="647695" indent="-323848" lvl="1">
              <a:lnSpc>
                <a:spcPts val="4889"/>
              </a:lnSpc>
              <a:buFont typeface="Arial"/>
              <a:buChar char="•"/>
            </a:pPr>
            <a:r>
              <a:rPr lang="en-US" b="true" sz="2999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4450" y="2325093"/>
            <a:ext cx="15701815" cy="7254734"/>
            <a:chOff x="0" y="0"/>
            <a:chExt cx="17493906" cy="80827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93906" cy="8082737"/>
            </a:xfrm>
            <a:custGeom>
              <a:avLst/>
              <a:gdLst/>
              <a:ahLst/>
              <a:cxnLst/>
              <a:rect r="r" b="b" t="t" l="l"/>
              <a:pathLst>
                <a:path h="8082737" w="17493906">
                  <a:moveTo>
                    <a:pt x="1718910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7777937"/>
                  </a:lnTo>
                  <a:cubicBezTo>
                    <a:pt x="0" y="7946847"/>
                    <a:pt x="135890" y="8082737"/>
                    <a:pt x="304800" y="8082737"/>
                  </a:cubicBezTo>
                  <a:lnTo>
                    <a:pt x="17189106" y="8082737"/>
                  </a:lnTo>
                  <a:cubicBezTo>
                    <a:pt x="17358015" y="8082737"/>
                    <a:pt x="17493906" y="7946847"/>
                    <a:pt x="17493906" y="7777937"/>
                  </a:cubicBezTo>
                  <a:lnTo>
                    <a:pt x="17493906" y="304800"/>
                  </a:lnTo>
                  <a:cubicBezTo>
                    <a:pt x="17493906" y="135890"/>
                    <a:pt x="17358015" y="0"/>
                    <a:pt x="17189106" y="0"/>
                  </a:cubicBezTo>
                  <a:close/>
                </a:path>
              </a:pathLst>
            </a:custGeom>
            <a:solidFill>
              <a:srgbClr val="33A685">
                <a:alpha val="23922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07264" y="9258300"/>
            <a:ext cx="1835964" cy="1335664"/>
          </a:xfrm>
          <a:custGeom>
            <a:avLst/>
            <a:gdLst/>
            <a:ahLst/>
            <a:cxnLst/>
            <a:rect r="r" b="b" t="t" l="l"/>
            <a:pathLst>
              <a:path h="1335664" w="1835964">
                <a:moveTo>
                  <a:pt x="0" y="0"/>
                </a:moveTo>
                <a:lnTo>
                  <a:pt x="1835964" y="0"/>
                </a:lnTo>
                <a:lnTo>
                  <a:pt x="1835964" y="1335664"/>
                </a:lnTo>
                <a:lnTo>
                  <a:pt x="0" y="13356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647278" y="-618490"/>
            <a:ext cx="1281444" cy="1853807"/>
          </a:xfrm>
          <a:custGeom>
            <a:avLst/>
            <a:gdLst/>
            <a:ahLst/>
            <a:cxnLst/>
            <a:rect r="r" b="b" t="t" l="l"/>
            <a:pathLst>
              <a:path h="1853807" w="1281444">
                <a:moveTo>
                  <a:pt x="0" y="0"/>
                </a:moveTo>
                <a:lnTo>
                  <a:pt x="1281444" y="0"/>
                </a:lnTo>
                <a:lnTo>
                  <a:pt x="1281444" y="1853807"/>
                </a:lnTo>
                <a:lnTo>
                  <a:pt x="0" y="18538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314450" y="1149592"/>
            <a:ext cx="10037241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DUCTI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5620" y="2533649"/>
            <a:ext cx="14736759" cy="6705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This project presents a real-time intelligent vision system capable of face detection, tracking, and voice-based interaction using computer vision and embedded systems. The system uses OpenCV and MediaPipe for accurate face detection through a USB camera and calculates face coordinates in real time. A proportional controller with EMA smoothing is applied to achieve stable and smooth servo movement. The processed commands are sent through USB serial communication t</a:t>
            </a: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o an Arduino Uno, which controls SG90 servo motors for camera pan and tilt motion. Compared to the earlier Raspberry Pi and Wi-Fi-based design, the current arc</a:t>
            </a: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hitecture uses direct USB communication, reducing latency and simplifying de</a:t>
            </a: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ployment. The project demonstrates an efficient, low-cost, and responsive face-tracking platform using a standard laptop and Arduino microcontroller.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4450" y="2325093"/>
            <a:ext cx="15701815" cy="7254734"/>
            <a:chOff x="0" y="0"/>
            <a:chExt cx="17493906" cy="80827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93906" cy="8082737"/>
            </a:xfrm>
            <a:custGeom>
              <a:avLst/>
              <a:gdLst/>
              <a:ahLst/>
              <a:cxnLst/>
              <a:rect r="r" b="b" t="t" l="l"/>
              <a:pathLst>
                <a:path h="8082737" w="17493906">
                  <a:moveTo>
                    <a:pt x="1718910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7777937"/>
                  </a:lnTo>
                  <a:cubicBezTo>
                    <a:pt x="0" y="7946847"/>
                    <a:pt x="135890" y="8082737"/>
                    <a:pt x="304800" y="8082737"/>
                  </a:cubicBezTo>
                  <a:lnTo>
                    <a:pt x="17189106" y="8082737"/>
                  </a:lnTo>
                  <a:cubicBezTo>
                    <a:pt x="17358015" y="8082737"/>
                    <a:pt x="17493906" y="7946847"/>
                    <a:pt x="17493906" y="7777937"/>
                  </a:cubicBezTo>
                  <a:lnTo>
                    <a:pt x="17493906" y="304800"/>
                  </a:lnTo>
                  <a:cubicBezTo>
                    <a:pt x="17493906" y="135890"/>
                    <a:pt x="17358015" y="0"/>
                    <a:pt x="17189106" y="0"/>
                  </a:cubicBezTo>
                  <a:close/>
                </a:path>
              </a:pathLst>
            </a:custGeom>
            <a:solidFill>
              <a:srgbClr val="33A685">
                <a:alpha val="23922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07264" y="9258300"/>
            <a:ext cx="1835964" cy="1335664"/>
          </a:xfrm>
          <a:custGeom>
            <a:avLst/>
            <a:gdLst/>
            <a:ahLst/>
            <a:cxnLst/>
            <a:rect r="r" b="b" t="t" l="l"/>
            <a:pathLst>
              <a:path h="1335664" w="1835964">
                <a:moveTo>
                  <a:pt x="0" y="0"/>
                </a:moveTo>
                <a:lnTo>
                  <a:pt x="1835964" y="0"/>
                </a:lnTo>
                <a:lnTo>
                  <a:pt x="1835964" y="1335664"/>
                </a:lnTo>
                <a:lnTo>
                  <a:pt x="0" y="13356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647278" y="-618490"/>
            <a:ext cx="1281444" cy="1853807"/>
          </a:xfrm>
          <a:custGeom>
            <a:avLst/>
            <a:gdLst/>
            <a:ahLst/>
            <a:cxnLst/>
            <a:rect r="r" b="b" t="t" l="l"/>
            <a:pathLst>
              <a:path h="1853807" w="1281444">
                <a:moveTo>
                  <a:pt x="0" y="0"/>
                </a:moveTo>
                <a:lnTo>
                  <a:pt x="1281444" y="0"/>
                </a:lnTo>
                <a:lnTo>
                  <a:pt x="1281444" y="1853807"/>
                </a:lnTo>
                <a:lnTo>
                  <a:pt x="0" y="18538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314450" y="1149592"/>
            <a:ext cx="10037241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LITERATURE SURVEY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5620" y="2534731"/>
            <a:ext cx="14781463" cy="726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Viola-Jones Face Detection (2001)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Introduced Haar Cascade face detection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Enabled real-time face tracking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Limited performance in poor lighting and side poses</a:t>
            </a:r>
          </a:p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YOLO Object Detect</a:t>
            </a:r>
            <a:r>
              <a:rPr lang="en-US" b="true" sz="29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ion (2016)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Real-time deep learning object detection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High spe</a:t>
            </a: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ed and accuracy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Inspired </a:t>
            </a: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lightweight detection systems like MediaPipe</a:t>
            </a:r>
          </a:p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29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9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rvo-Controlled Tracking (2020)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Combined computer vision with servo motors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Used microcontroller-based face tracking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Introduced error-based servo angle correction using P-controller</a:t>
            </a:r>
          </a:p>
          <a:p>
            <a:pPr algn="l">
              <a:lnSpc>
                <a:spcPts val="449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4450" y="2325093"/>
            <a:ext cx="15701815" cy="7254734"/>
            <a:chOff x="0" y="0"/>
            <a:chExt cx="17493906" cy="80827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93906" cy="8082737"/>
            </a:xfrm>
            <a:custGeom>
              <a:avLst/>
              <a:gdLst/>
              <a:ahLst/>
              <a:cxnLst/>
              <a:rect r="r" b="b" t="t" l="l"/>
              <a:pathLst>
                <a:path h="8082737" w="17493906">
                  <a:moveTo>
                    <a:pt x="1718910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7777937"/>
                  </a:lnTo>
                  <a:cubicBezTo>
                    <a:pt x="0" y="7946847"/>
                    <a:pt x="135890" y="8082737"/>
                    <a:pt x="304800" y="8082737"/>
                  </a:cubicBezTo>
                  <a:lnTo>
                    <a:pt x="17189106" y="8082737"/>
                  </a:lnTo>
                  <a:cubicBezTo>
                    <a:pt x="17358015" y="8082737"/>
                    <a:pt x="17493906" y="7946847"/>
                    <a:pt x="17493906" y="7777937"/>
                  </a:cubicBezTo>
                  <a:lnTo>
                    <a:pt x="17493906" y="304800"/>
                  </a:lnTo>
                  <a:cubicBezTo>
                    <a:pt x="17493906" y="135890"/>
                    <a:pt x="17358015" y="0"/>
                    <a:pt x="17189106" y="0"/>
                  </a:cubicBezTo>
                  <a:close/>
                </a:path>
              </a:pathLst>
            </a:custGeom>
            <a:solidFill>
              <a:srgbClr val="33A685">
                <a:alpha val="23922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07264" y="9258300"/>
            <a:ext cx="1835964" cy="1335664"/>
          </a:xfrm>
          <a:custGeom>
            <a:avLst/>
            <a:gdLst/>
            <a:ahLst/>
            <a:cxnLst/>
            <a:rect r="r" b="b" t="t" l="l"/>
            <a:pathLst>
              <a:path h="1335664" w="1835964">
                <a:moveTo>
                  <a:pt x="0" y="0"/>
                </a:moveTo>
                <a:lnTo>
                  <a:pt x="1835964" y="0"/>
                </a:lnTo>
                <a:lnTo>
                  <a:pt x="1835964" y="1335664"/>
                </a:lnTo>
                <a:lnTo>
                  <a:pt x="0" y="13356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647278" y="-618490"/>
            <a:ext cx="1281444" cy="1853807"/>
          </a:xfrm>
          <a:custGeom>
            <a:avLst/>
            <a:gdLst/>
            <a:ahLst/>
            <a:cxnLst/>
            <a:rect r="r" b="b" t="t" l="l"/>
            <a:pathLst>
              <a:path h="1853807" w="1281444">
                <a:moveTo>
                  <a:pt x="0" y="0"/>
                </a:moveTo>
                <a:lnTo>
                  <a:pt x="1281444" y="0"/>
                </a:lnTo>
                <a:lnTo>
                  <a:pt x="1281444" y="1853807"/>
                </a:lnTo>
                <a:lnTo>
                  <a:pt x="0" y="18538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314450" y="1149592"/>
            <a:ext cx="10037241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LITERATURE SURVEY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5620" y="2534731"/>
            <a:ext cx="13113778" cy="726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MediaPipe Framework (2019)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Lightweight and fast face detection framework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Works efficiently on CPU without GPU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Used in this project for low-latency</a:t>
            </a: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face track</a:t>
            </a: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ing</a:t>
            </a:r>
          </a:p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ArcFace / InsightFace (2019)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Advanced face recognition using </a:t>
            </a: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deep learning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Ge</a:t>
            </a: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nerates accurate facial embeddings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Supports real-time identity recognition</a:t>
            </a:r>
          </a:p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DeepFace Emotion </a:t>
            </a:r>
            <a:r>
              <a:rPr lang="en-US" b="true" sz="29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Detec</a:t>
            </a: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ts facial emotions using CNN models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Identifies emotions like happy, sad, angry, neutral</a:t>
            </a:r>
          </a:p>
          <a:p>
            <a:pPr algn="l" marL="1295387" indent="-431796" lvl="2">
              <a:lnSpc>
                <a:spcPts val="4499"/>
              </a:lnSpc>
              <a:buFont typeface="Arial"/>
              <a:buChar char="⚬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Useful for smart interactive systems</a:t>
            </a:r>
          </a:p>
          <a:p>
            <a:pPr algn="l">
              <a:lnSpc>
                <a:spcPts val="449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4450" y="2182331"/>
            <a:ext cx="15701815" cy="6690861"/>
            <a:chOff x="0" y="0"/>
            <a:chExt cx="17493906" cy="74545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93906" cy="7454507"/>
            </a:xfrm>
            <a:custGeom>
              <a:avLst/>
              <a:gdLst/>
              <a:ahLst/>
              <a:cxnLst/>
              <a:rect r="r" b="b" t="t" l="l"/>
              <a:pathLst>
                <a:path h="7454507" w="17493906">
                  <a:moveTo>
                    <a:pt x="1718910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7149707"/>
                  </a:lnTo>
                  <a:cubicBezTo>
                    <a:pt x="0" y="7318617"/>
                    <a:pt x="135890" y="7454507"/>
                    <a:pt x="304800" y="7454507"/>
                  </a:cubicBezTo>
                  <a:lnTo>
                    <a:pt x="17189106" y="7454507"/>
                  </a:lnTo>
                  <a:cubicBezTo>
                    <a:pt x="17358015" y="7454507"/>
                    <a:pt x="17493906" y="7318617"/>
                    <a:pt x="17493906" y="7149707"/>
                  </a:cubicBezTo>
                  <a:lnTo>
                    <a:pt x="17493906" y="304800"/>
                  </a:lnTo>
                  <a:cubicBezTo>
                    <a:pt x="17493906" y="135890"/>
                    <a:pt x="17358015" y="0"/>
                    <a:pt x="17189106" y="0"/>
                  </a:cubicBezTo>
                  <a:close/>
                </a:path>
              </a:pathLst>
            </a:custGeom>
            <a:solidFill>
              <a:srgbClr val="33A685">
                <a:alpha val="23922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07264" y="9258300"/>
            <a:ext cx="1835964" cy="1335664"/>
          </a:xfrm>
          <a:custGeom>
            <a:avLst/>
            <a:gdLst/>
            <a:ahLst/>
            <a:cxnLst/>
            <a:rect r="r" b="b" t="t" l="l"/>
            <a:pathLst>
              <a:path h="1335664" w="1835964">
                <a:moveTo>
                  <a:pt x="0" y="0"/>
                </a:moveTo>
                <a:lnTo>
                  <a:pt x="1835964" y="0"/>
                </a:lnTo>
                <a:lnTo>
                  <a:pt x="1835964" y="1335664"/>
                </a:lnTo>
                <a:lnTo>
                  <a:pt x="0" y="13356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647278" y="-618490"/>
            <a:ext cx="1281444" cy="1853807"/>
          </a:xfrm>
          <a:custGeom>
            <a:avLst/>
            <a:gdLst/>
            <a:ahLst/>
            <a:cxnLst/>
            <a:rect r="r" b="b" t="t" l="l"/>
            <a:pathLst>
              <a:path h="1853807" w="1281444">
                <a:moveTo>
                  <a:pt x="0" y="0"/>
                </a:moveTo>
                <a:lnTo>
                  <a:pt x="1281444" y="0"/>
                </a:lnTo>
                <a:lnTo>
                  <a:pt x="1281444" y="1853807"/>
                </a:lnTo>
                <a:lnTo>
                  <a:pt x="0" y="18538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314450" y="933450"/>
            <a:ext cx="10037241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ROBLEM STATE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5620" y="2591827"/>
            <a:ext cx="14962886" cy="553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699" b="true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Limitations of Traditional Systems</a:t>
            </a:r>
          </a:p>
          <a:p>
            <a:pPr algn="l" marL="582925" indent="-291463" lvl="1">
              <a:lnSpc>
                <a:spcPts val="4049"/>
              </a:lnSpc>
              <a:buFont typeface="Arial"/>
              <a:buChar char="•"/>
            </a:pPr>
            <a:r>
              <a:rPr lang="en-US" b="true" sz="26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Inconsistent Tracking</a:t>
            </a:r>
          </a:p>
          <a:p>
            <a:pPr algn="l">
              <a:lnSpc>
                <a:spcPts val="4049"/>
              </a:lnSpc>
            </a:pP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Mechanical play and open-loop control cause imprecise face centering.</a:t>
            </a:r>
          </a:p>
          <a:p>
            <a:pPr algn="l" marL="582925" indent="-291463" lvl="1">
              <a:lnSpc>
                <a:spcPts val="4049"/>
              </a:lnSpc>
              <a:buFont typeface="Arial"/>
              <a:buChar char="•"/>
            </a:pPr>
            <a:r>
              <a:rPr lang="en-US" b="true" sz="26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Latency</a:t>
            </a:r>
          </a:p>
          <a:p>
            <a:pPr algn="l">
              <a:lnSpc>
                <a:spcPts val="4049"/>
              </a:lnSpc>
            </a:pPr>
            <a:r>
              <a:rPr lang="en-US" b="true" sz="26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HTTP/Wi-Fi 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based protocols introduce 100–200 ms delays.</a:t>
            </a:r>
          </a:p>
          <a:p>
            <a:pPr algn="l" marL="582925" indent="-291463" lvl="1">
              <a:lnSpc>
                <a:spcPts val="4049"/>
              </a:lnSpc>
              <a:buFont typeface="Arial"/>
              <a:buChar char="•"/>
            </a:pPr>
            <a:r>
              <a:rPr lang="en-US" b="true" sz="26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Poor Lighting Robustness</a:t>
            </a:r>
          </a:p>
          <a:p>
            <a:pPr algn="l">
              <a:lnSpc>
                <a:spcPts val="4049"/>
              </a:lnSpc>
            </a:pPr>
            <a:r>
              <a:rPr lang="en-US" b="true" sz="26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Tradition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al detectors fail under dynamic lighting or fast motion.</a:t>
            </a:r>
          </a:p>
          <a:p>
            <a:pPr algn="l" marL="582925" indent="-291463" lvl="1">
              <a:lnSpc>
                <a:spcPts val="4049"/>
              </a:lnSpc>
              <a:buFont typeface="Arial"/>
              <a:buChar char="•"/>
            </a:pPr>
            <a:r>
              <a:rPr lang="en-US" b="true" sz="26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Complex Hardware Setup</a:t>
            </a:r>
          </a:p>
          <a:p>
            <a:pPr algn="l">
              <a:lnSpc>
                <a:spcPts val="4049"/>
              </a:lnSpc>
            </a:pPr>
            <a:r>
              <a:rPr lang="en-US" b="true" sz="26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Raspb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erry Pi requires full Linux OS, SSH configuration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, and GPIO library management.</a:t>
            </a:r>
          </a:p>
          <a:p>
            <a:pPr algn="l" marL="582925" indent="-291463" lvl="1">
              <a:lnSpc>
                <a:spcPts val="4049"/>
              </a:lnSpc>
              <a:buFont typeface="Arial"/>
              <a:buChar char="•"/>
            </a:pPr>
            <a:r>
              <a:rPr lang="en-US" b="true" sz="2699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Component Cost</a:t>
            </a:r>
          </a:p>
          <a:p>
            <a:pPr algn="l">
              <a:lnSpc>
                <a:spcPts val="4049"/>
              </a:lnSpc>
            </a:pP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Using an SBC solely for servo PWM generation increases system cost (₹4,000–5,000).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4450" y="2182331"/>
            <a:ext cx="15701815" cy="6690861"/>
            <a:chOff x="0" y="0"/>
            <a:chExt cx="17493906" cy="74545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93906" cy="7454507"/>
            </a:xfrm>
            <a:custGeom>
              <a:avLst/>
              <a:gdLst/>
              <a:ahLst/>
              <a:cxnLst/>
              <a:rect r="r" b="b" t="t" l="l"/>
              <a:pathLst>
                <a:path h="7454507" w="17493906">
                  <a:moveTo>
                    <a:pt x="1718910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7149707"/>
                  </a:lnTo>
                  <a:cubicBezTo>
                    <a:pt x="0" y="7318617"/>
                    <a:pt x="135890" y="7454507"/>
                    <a:pt x="304800" y="7454507"/>
                  </a:cubicBezTo>
                  <a:lnTo>
                    <a:pt x="17189106" y="7454507"/>
                  </a:lnTo>
                  <a:cubicBezTo>
                    <a:pt x="17358015" y="7454507"/>
                    <a:pt x="17493906" y="7318617"/>
                    <a:pt x="17493906" y="7149707"/>
                  </a:cubicBezTo>
                  <a:lnTo>
                    <a:pt x="17493906" y="304800"/>
                  </a:lnTo>
                  <a:cubicBezTo>
                    <a:pt x="17493906" y="135890"/>
                    <a:pt x="17358015" y="0"/>
                    <a:pt x="17189106" y="0"/>
                  </a:cubicBezTo>
                  <a:close/>
                </a:path>
              </a:pathLst>
            </a:custGeom>
            <a:solidFill>
              <a:srgbClr val="33A685">
                <a:alpha val="23922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07264" y="9258300"/>
            <a:ext cx="1835964" cy="1335664"/>
          </a:xfrm>
          <a:custGeom>
            <a:avLst/>
            <a:gdLst/>
            <a:ahLst/>
            <a:cxnLst/>
            <a:rect r="r" b="b" t="t" l="l"/>
            <a:pathLst>
              <a:path h="1335664" w="1835964">
                <a:moveTo>
                  <a:pt x="0" y="0"/>
                </a:moveTo>
                <a:lnTo>
                  <a:pt x="1835964" y="0"/>
                </a:lnTo>
                <a:lnTo>
                  <a:pt x="1835964" y="1335664"/>
                </a:lnTo>
                <a:lnTo>
                  <a:pt x="0" y="13356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647278" y="-618490"/>
            <a:ext cx="1281444" cy="1853807"/>
          </a:xfrm>
          <a:custGeom>
            <a:avLst/>
            <a:gdLst/>
            <a:ahLst/>
            <a:cxnLst/>
            <a:rect r="r" b="b" t="t" l="l"/>
            <a:pathLst>
              <a:path h="1853807" w="1281444">
                <a:moveTo>
                  <a:pt x="0" y="0"/>
                </a:moveTo>
                <a:lnTo>
                  <a:pt x="1281444" y="0"/>
                </a:lnTo>
                <a:lnTo>
                  <a:pt x="1281444" y="1853807"/>
                </a:lnTo>
                <a:lnTo>
                  <a:pt x="0" y="18538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314450" y="933450"/>
            <a:ext cx="10037241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ROPOSED 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5620" y="2591827"/>
            <a:ext cx="14510697" cy="503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This project proposes an intelligent, vision-guided tracking system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implemented on a laptop that offloads servo actuation to an Arduino Uno microcontroller via USB serial. The key design decision 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is the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separation of concerns: </a:t>
            </a:r>
          </a:p>
          <a:p>
            <a:pPr algn="l">
              <a:lnSpc>
                <a:spcPts val="4049"/>
              </a:lnSpc>
            </a:pPr>
          </a:p>
          <a:p>
            <a:pPr algn="l">
              <a:lnSpc>
                <a:spcPts val="4049"/>
              </a:lnSpc>
            </a:pP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• The lapt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op runs all comput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ation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ally intensive tasks: face detection (MediaPipe), face recognition (ArcFace), emotion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analysis (DeepF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ac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e), Pcontroller logic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, and the Flask web server. </a:t>
            </a:r>
          </a:p>
          <a:p>
            <a:pPr algn="l">
              <a:lnSpc>
                <a:spcPts val="4049"/>
              </a:lnSpc>
            </a:pP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• T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he Arduino</a:t>
            </a:r>
            <a:r>
              <a:rPr lang="en-US" sz="26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Uno handles only servo PWM generation—a task perfectly matched to a low-cost 8-bit microcontroller—receiving pre-computed pan and tilt angles over a reliable wired serial link.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6338" y="1743549"/>
            <a:ext cx="16615091" cy="1416661"/>
            <a:chOff x="0" y="0"/>
            <a:chExt cx="5309130" cy="4526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09129" cy="452675"/>
            </a:xfrm>
            <a:custGeom>
              <a:avLst/>
              <a:gdLst/>
              <a:ahLst/>
              <a:cxnLst/>
              <a:rect r="r" b="b" t="t" l="l"/>
              <a:pathLst>
                <a:path h="452675" w="5309129">
                  <a:moveTo>
                    <a:pt x="23764" y="0"/>
                  </a:moveTo>
                  <a:lnTo>
                    <a:pt x="5285366" y="0"/>
                  </a:lnTo>
                  <a:cubicBezTo>
                    <a:pt x="5291668" y="0"/>
                    <a:pt x="5297713" y="2504"/>
                    <a:pt x="5302169" y="6960"/>
                  </a:cubicBezTo>
                  <a:cubicBezTo>
                    <a:pt x="5306626" y="11417"/>
                    <a:pt x="5309129" y="17461"/>
                    <a:pt x="5309129" y="23764"/>
                  </a:cubicBezTo>
                  <a:lnTo>
                    <a:pt x="5309129" y="428911"/>
                  </a:lnTo>
                  <a:cubicBezTo>
                    <a:pt x="5309129" y="435214"/>
                    <a:pt x="5306626" y="441258"/>
                    <a:pt x="5302169" y="445715"/>
                  </a:cubicBezTo>
                  <a:cubicBezTo>
                    <a:pt x="5297713" y="450172"/>
                    <a:pt x="5291668" y="452675"/>
                    <a:pt x="5285366" y="452675"/>
                  </a:cubicBezTo>
                  <a:lnTo>
                    <a:pt x="23764" y="452675"/>
                  </a:lnTo>
                  <a:cubicBezTo>
                    <a:pt x="17461" y="452675"/>
                    <a:pt x="11417" y="450172"/>
                    <a:pt x="6960" y="445715"/>
                  </a:cubicBezTo>
                  <a:cubicBezTo>
                    <a:pt x="2504" y="441258"/>
                    <a:pt x="0" y="435214"/>
                    <a:pt x="0" y="428911"/>
                  </a:cubicBezTo>
                  <a:lnTo>
                    <a:pt x="0" y="23764"/>
                  </a:lnTo>
                  <a:cubicBezTo>
                    <a:pt x="0" y="17461"/>
                    <a:pt x="2504" y="11417"/>
                    <a:pt x="6960" y="6960"/>
                  </a:cubicBezTo>
                  <a:cubicBezTo>
                    <a:pt x="11417" y="2504"/>
                    <a:pt x="17461" y="0"/>
                    <a:pt x="23764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09130" cy="500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4925" y="1743549"/>
            <a:ext cx="636117" cy="1416661"/>
            <a:chOff x="0" y="0"/>
            <a:chExt cx="6323285" cy="140822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23285" cy="14082237"/>
            </a:xfrm>
            <a:custGeom>
              <a:avLst/>
              <a:gdLst/>
              <a:ahLst/>
              <a:cxnLst/>
              <a:rect r="r" b="b" t="t" l="l"/>
              <a:pathLst>
                <a:path h="14082237" w="6323285">
                  <a:moveTo>
                    <a:pt x="601848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13777437"/>
                  </a:lnTo>
                  <a:cubicBezTo>
                    <a:pt x="0" y="13946346"/>
                    <a:pt x="135890" y="14082237"/>
                    <a:pt x="304800" y="14082237"/>
                  </a:cubicBezTo>
                  <a:lnTo>
                    <a:pt x="6018485" y="14082237"/>
                  </a:lnTo>
                  <a:cubicBezTo>
                    <a:pt x="6187394" y="14082237"/>
                    <a:pt x="6323285" y="13946346"/>
                    <a:pt x="6323285" y="13777437"/>
                  </a:cubicBezTo>
                  <a:lnTo>
                    <a:pt x="6323285" y="304800"/>
                  </a:lnTo>
                  <a:cubicBezTo>
                    <a:pt x="6323285" y="135890"/>
                    <a:pt x="6187394" y="0"/>
                    <a:pt x="6018485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807264" y="9267825"/>
            <a:ext cx="1835964" cy="1335664"/>
          </a:xfrm>
          <a:custGeom>
            <a:avLst/>
            <a:gdLst/>
            <a:ahLst/>
            <a:cxnLst/>
            <a:rect r="r" b="b" t="t" l="l"/>
            <a:pathLst>
              <a:path h="1335664" w="1835964">
                <a:moveTo>
                  <a:pt x="0" y="0"/>
                </a:moveTo>
                <a:lnTo>
                  <a:pt x="1835964" y="0"/>
                </a:lnTo>
                <a:lnTo>
                  <a:pt x="1835964" y="1335664"/>
                </a:lnTo>
                <a:lnTo>
                  <a:pt x="0" y="13356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647278" y="-618490"/>
            <a:ext cx="1281444" cy="1853807"/>
          </a:xfrm>
          <a:custGeom>
            <a:avLst/>
            <a:gdLst/>
            <a:ahLst/>
            <a:cxnLst/>
            <a:rect r="r" b="b" t="t" l="l"/>
            <a:pathLst>
              <a:path h="1853807" w="1281444">
                <a:moveTo>
                  <a:pt x="0" y="0"/>
                </a:moveTo>
                <a:lnTo>
                  <a:pt x="1281444" y="0"/>
                </a:lnTo>
                <a:lnTo>
                  <a:pt x="1281444" y="1853807"/>
                </a:lnTo>
                <a:lnTo>
                  <a:pt x="0" y="18538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2265640" y="1970908"/>
            <a:ext cx="1523846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Develop a real-time face detection &amp; recognition system using OpenCV, MediaPipe, and InsightFace via a USB webcam.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14450" y="588327"/>
            <a:ext cx="10037241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BJ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CTI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4401" y="1920401"/>
            <a:ext cx="483734" cy="44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263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66338" y="3337219"/>
            <a:ext cx="16615091" cy="1416661"/>
            <a:chOff x="0" y="0"/>
            <a:chExt cx="5309130" cy="4526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09129" cy="452675"/>
            </a:xfrm>
            <a:custGeom>
              <a:avLst/>
              <a:gdLst/>
              <a:ahLst/>
              <a:cxnLst/>
              <a:rect r="r" b="b" t="t" l="l"/>
              <a:pathLst>
                <a:path h="452675" w="5309129">
                  <a:moveTo>
                    <a:pt x="23764" y="0"/>
                  </a:moveTo>
                  <a:lnTo>
                    <a:pt x="5285366" y="0"/>
                  </a:lnTo>
                  <a:cubicBezTo>
                    <a:pt x="5291668" y="0"/>
                    <a:pt x="5297713" y="2504"/>
                    <a:pt x="5302169" y="6960"/>
                  </a:cubicBezTo>
                  <a:cubicBezTo>
                    <a:pt x="5306626" y="11417"/>
                    <a:pt x="5309129" y="17461"/>
                    <a:pt x="5309129" y="23764"/>
                  </a:cubicBezTo>
                  <a:lnTo>
                    <a:pt x="5309129" y="428911"/>
                  </a:lnTo>
                  <a:cubicBezTo>
                    <a:pt x="5309129" y="435214"/>
                    <a:pt x="5306626" y="441258"/>
                    <a:pt x="5302169" y="445715"/>
                  </a:cubicBezTo>
                  <a:cubicBezTo>
                    <a:pt x="5297713" y="450172"/>
                    <a:pt x="5291668" y="452675"/>
                    <a:pt x="5285366" y="452675"/>
                  </a:cubicBezTo>
                  <a:lnTo>
                    <a:pt x="23764" y="452675"/>
                  </a:lnTo>
                  <a:cubicBezTo>
                    <a:pt x="17461" y="452675"/>
                    <a:pt x="11417" y="450172"/>
                    <a:pt x="6960" y="445715"/>
                  </a:cubicBezTo>
                  <a:cubicBezTo>
                    <a:pt x="2504" y="441258"/>
                    <a:pt x="0" y="435214"/>
                    <a:pt x="0" y="428911"/>
                  </a:cubicBezTo>
                  <a:lnTo>
                    <a:pt x="0" y="23764"/>
                  </a:lnTo>
                  <a:cubicBezTo>
                    <a:pt x="0" y="17461"/>
                    <a:pt x="2504" y="11417"/>
                    <a:pt x="6960" y="6960"/>
                  </a:cubicBezTo>
                  <a:cubicBezTo>
                    <a:pt x="11417" y="2504"/>
                    <a:pt x="17461" y="0"/>
                    <a:pt x="23764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309130" cy="500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4925" y="3337219"/>
            <a:ext cx="636117" cy="1416661"/>
            <a:chOff x="0" y="0"/>
            <a:chExt cx="6323285" cy="140822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23285" cy="14082237"/>
            </a:xfrm>
            <a:custGeom>
              <a:avLst/>
              <a:gdLst/>
              <a:ahLst/>
              <a:cxnLst/>
              <a:rect r="r" b="b" t="t" l="l"/>
              <a:pathLst>
                <a:path h="14082237" w="6323285">
                  <a:moveTo>
                    <a:pt x="601848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13777437"/>
                  </a:lnTo>
                  <a:cubicBezTo>
                    <a:pt x="0" y="13946346"/>
                    <a:pt x="135890" y="14082237"/>
                    <a:pt x="304800" y="14082237"/>
                  </a:cubicBezTo>
                  <a:lnTo>
                    <a:pt x="6018485" y="14082237"/>
                  </a:lnTo>
                  <a:cubicBezTo>
                    <a:pt x="6187394" y="14082237"/>
                    <a:pt x="6323285" y="13946346"/>
                    <a:pt x="6323285" y="13777437"/>
                  </a:cubicBezTo>
                  <a:lnTo>
                    <a:pt x="6323285" y="304800"/>
                  </a:lnTo>
                  <a:cubicBezTo>
                    <a:pt x="6323285" y="135890"/>
                    <a:pt x="6187394" y="0"/>
                    <a:pt x="6018485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265640" y="3564579"/>
            <a:ext cx="1523846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</a:t>
            </a: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lement a closed-loop P-controller with EMA smoothing for jitter-free servo tracking.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444401" y="3514071"/>
            <a:ext cx="483734" cy="44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263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66338" y="4934856"/>
            <a:ext cx="16615091" cy="1416661"/>
            <a:chOff x="0" y="0"/>
            <a:chExt cx="5309130" cy="4526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09129" cy="452675"/>
            </a:xfrm>
            <a:custGeom>
              <a:avLst/>
              <a:gdLst/>
              <a:ahLst/>
              <a:cxnLst/>
              <a:rect r="r" b="b" t="t" l="l"/>
              <a:pathLst>
                <a:path h="452675" w="5309129">
                  <a:moveTo>
                    <a:pt x="23764" y="0"/>
                  </a:moveTo>
                  <a:lnTo>
                    <a:pt x="5285366" y="0"/>
                  </a:lnTo>
                  <a:cubicBezTo>
                    <a:pt x="5291668" y="0"/>
                    <a:pt x="5297713" y="2504"/>
                    <a:pt x="5302169" y="6960"/>
                  </a:cubicBezTo>
                  <a:cubicBezTo>
                    <a:pt x="5306626" y="11417"/>
                    <a:pt x="5309129" y="17461"/>
                    <a:pt x="5309129" y="23764"/>
                  </a:cubicBezTo>
                  <a:lnTo>
                    <a:pt x="5309129" y="428911"/>
                  </a:lnTo>
                  <a:cubicBezTo>
                    <a:pt x="5309129" y="435214"/>
                    <a:pt x="5306626" y="441258"/>
                    <a:pt x="5302169" y="445715"/>
                  </a:cubicBezTo>
                  <a:cubicBezTo>
                    <a:pt x="5297713" y="450172"/>
                    <a:pt x="5291668" y="452675"/>
                    <a:pt x="5285366" y="452675"/>
                  </a:cubicBezTo>
                  <a:lnTo>
                    <a:pt x="23764" y="452675"/>
                  </a:lnTo>
                  <a:cubicBezTo>
                    <a:pt x="17461" y="452675"/>
                    <a:pt x="11417" y="450172"/>
                    <a:pt x="6960" y="445715"/>
                  </a:cubicBezTo>
                  <a:cubicBezTo>
                    <a:pt x="2504" y="441258"/>
                    <a:pt x="0" y="435214"/>
                    <a:pt x="0" y="428911"/>
                  </a:cubicBezTo>
                  <a:lnTo>
                    <a:pt x="0" y="23764"/>
                  </a:lnTo>
                  <a:cubicBezTo>
                    <a:pt x="0" y="17461"/>
                    <a:pt x="2504" y="11417"/>
                    <a:pt x="6960" y="6960"/>
                  </a:cubicBezTo>
                  <a:cubicBezTo>
                    <a:pt x="11417" y="2504"/>
                    <a:pt x="17461" y="0"/>
                    <a:pt x="23764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309130" cy="500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04925" y="4934856"/>
            <a:ext cx="636117" cy="1416661"/>
            <a:chOff x="0" y="0"/>
            <a:chExt cx="6323285" cy="140822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23285" cy="14082237"/>
            </a:xfrm>
            <a:custGeom>
              <a:avLst/>
              <a:gdLst/>
              <a:ahLst/>
              <a:cxnLst/>
              <a:rect r="r" b="b" t="t" l="l"/>
              <a:pathLst>
                <a:path h="14082237" w="6323285">
                  <a:moveTo>
                    <a:pt x="601848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13777437"/>
                  </a:lnTo>
                  <a:cubicBezTo>
                    <a:pt x="0" y="13946346"/>
                    <a:pt x="135890" y="14082237"/>
                    <a:pt x="304800" y="14082237"/>
                  </a:cubicBezTo>
                  <a:lnTo>
                    <a:pt x="6018485" y="14082237"/>
                  </a:lnTo>
                  <a:cubicBezTo>
                    <a:pt x="6187394" y="14082237"/>
                    <a:pt x="6323285" y="13946346"/>
                    <a:pt x="6323285" y="13777437"/>
                  </a:cubicBezTo>
                  <a:lnTo>
                    <a:pt x="6323285" y="304800"/>
                  </a:lnTo>
                  <a:cubicBezTo>
                    <a:pt x="6323285" y="135890"/>
                    <a:pt x="6187394" y="0"/>
                    <a:pt x="6018485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265640" y="5162215"/>
            <a:ext cx="1523846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</a:t>
            </a: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egrate Arduino Uno as a dedicated servo controller over USB serial (pyserial at 115,200 baud).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444401" y="5111708"/>
            <a:ext cx="483734" cy="44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263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66338" y="6532492"/>
            <a:ext cx="16615091" cy="1416661"/>
            <a:chOff x="0" y="0"/>
            <a:chExt cx="5309130" cy="4526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09129" cy="452675"/>
            </a:xfrm>
            <a:custGeom>
              <a:avLst/>
              <a:gdLst/>
              <a:ahLst/>
              <a:cxnLst/>
              <a:rect r="r" b="b" t="t" l="l"/>
              <a:pathLst>
                <a:path h="452675" w="5309129">
                  <a:moveTo>
                    <a:pt x="23764" y="0"/>
                  </a:moveTo>
                  <a:lnTo>
                    <a:pt x="5285366" y="0"/>
                  </a:lnTo>
                  <a:cubicBezTo>
                    <a:pt x="5291668" y="0"/>
                    <a:pt x="5297713" y="2504"/>
                    <a:pt x="5302169" y="6960"/>
                  </a:cubicBezTo>
                  <a:cubicBezTo>
                    <a:pt x="5306626" y="11417"/>
                    <a:pt x="5309129" y="17461"/>
                    <a:pt x="5309129" y="23764"/>
                  </a:cubicBezTo>
                  <a:lnTo>
                    <a:pt x="5309129" y="428911"/>
                  </a:lnTo>
                  <a:cubicBezTo>
                    <a:pt x="5309129" y="435214"/>
                    <a:pt x="5306626" y="441258"/>
                    <a:pt x="5302169" y="445715"/>
                  </a:cubicBezTo>
                  <a:cubicBezTo>
                    <a:pt x="5297713" y="450172"/>
                    <a:pt x="5291668" y="452675"/>
                    <a:pt x="5285366" y="452675"/>
                  </a:cubicBezTo>
                  <a:lnTo>
                    <a:pt x="23764" y="452675"/>
                  </a:lnTo>
                  <a:cubicBezTo>
                    <a:pt x="17461" y="452675"/>
                    <a:pt x="11417" y="450172"/>
                    <a:pt x="6960" y="445715"/>
                  </a:cubicBezTo>
                  <a:cubicBezTo>
                    <a:pt x="2504" y="441258"/>
                    <a:pt x="0" y="435214"/>
                    <a:pt x="0" y="428911"/>
                  </a:cubicBezTo>
                  <a:lnTo>
                    <a:pt x="0" y="23764"/>
                  </a:lnTo>
                  <a:cubicBezTo>
                    <a:pt x="0" y="17461"/>
                    <a:pt x="2504" y="11417"/>
                    <a:pt x="6960" y="6960"/>
                  </a:cubicBezTo>
                  <a:cubicBezTo>
                    <a:pt x="11417" y="2504"/>
                    <a:pt x="17461" y="0"/>
                    <a:pt x="23764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309130" cy="500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04925" y="6532492"/>
            <a:ext cx="636117" cy="1416661"/>
            <a:chOff x="0" y="0"/>
            <a:chExt cx="6323285" cy="140822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23285" cy="14082237"/>
            </a:xfrm>
            <a:custGeom>
              <a:avLst/>
              <a:gdLst/>
              <a:ahLst/>
              <a:cxnLst/>
              <a:rect r="r" b="b" t="t" l="l"/>
              <a:pathLst>
                <a:path h="14082237" w="6323285">
                  <a:moveTo>
                    <a:pt x="601848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13777437"/>
                  </a:lnTo>
                  <a:cubicBezTo>
                    <a:pt x="0" y="13946346"/>
                    <a:pt x="135890" y="14082237"/>
                    <a:pt x="304800" y="14082237"/>
                  </a:cubicBezTo>
                  <a:lnTo>
                    <a:pt x="6018485" y="14082237"/>
                  </a:lnTo>
                  <a:cubicBezTo>
                    <a:pt x="6187394" y="14082237"/>
                    <a:pt x="6323285" y="13946346"/>
                    <a:pt x="6323285" y="13777437"/>
                  </a:cubicBezTo>
                  <a:lnTo>
                    <a:pt x="6323285" y="304800"/>
                  </a:lnTo>
                  <a:cubicBezTo>
                    <a:pt x="6323285" y="135890"/>
                    <a:pt x="6187394" y="0"/>
                    <a:pt x="6018485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2265640" y="6759852"/>
            <a:ext cx="1523846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Design a two-axis pan–tilt mechanism using two SG90 servos (Pan 40°–140°, Tilt 55°–125°).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444401" y="6709344"/>
            <a:ext cx="483734" cy="44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263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75863" y="8130129"/>
            <a:ext cx="16615091" cy="1416661"/>
            <a:chOff x="0" y="0"/>
            <a:chExt cx="5309130" cy="45267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09129" cy="452675"/>
            </a:xfrm>
            <a:custGeom>
              <a:avLst/>
              <a:gdLst/>
              <a:ahLst/>
              <a:cxnLst/>
              <a:rect r="r" b="b" t="t" l="l"/>
              <a:pathLst>
                <a:path h="452675" w="5309129">
                  <a:moveTo>
                    <a:pt x="23764" y="0"/>
                  </a:moveTo>
                  <a:lnTo>
                    <a:pt x="5285366" y="0"/>
                  </a:lnTo>
                  <a:cubicBezTo>
                    <a:pt x="5291668" y="0"/>
                    <a:pt x="5297713" y="2504"/>
                    <a:pt x="5302169" y="6960"/>
                  </a:cubicBezTo>
                  <a:cubicBezTo>
                    <a:pt x="5306626" y="11417"/>
                    <a:pt x="5309129" y="17461"/>
                    <a:pt x="5309129" y="23764"/>
                  </a:cubicBezTo>
                  <a:lnTo>
                    <a:pt x="5309129" y="428911"/>
                  </a:lnTo>
                  <a:cubicBezTo>
                    <a:pt x="5309129" y="435214"/>
                    <a:pt x="5306626" y="441258"/>
                    <a:pt x="5302169" y="445715"/>
                  </a:cubicBezTo>
                  <a:cubicBezTo>
                    <a:pt x="5297713" y="450172"/>
                    <a:pt x="5291668" y="452675"/>
                    <a:pt x="5285366" y="452675"/>
                  </a:cubicBezTo>
                  <a:lnTo>
                    <a:pt x="23764" y="452675"/>
                  </a:lnTo>
                  <a:cubicBezTo>
                    <a:pt x="17461" y="452675"/>
                    <a:pt x="11417" y="450172"/>
                    <a:pt x="6960" y="445715"/>
                  </a:cubicBezTo>
                  <a:cubicBezTo>
                    <a:pt x="2504" y="441258"/>
                    <a:pt x="0" y="435214"/>
                    <a:pt x="0" y="428911"/>
                  </a:cubicBezTo>
                  <a:lnTo>
                    <a:pt x="0" y="23764"/>
                  </a:lnTo>
                  <a:cubicBezTo>
                    <a:pt x="0" y="17461"/>
                    <a:pt x="2504" y="11417"/>
                    <a:pt x="6960" y="6960"/>
                  </a:cubicBezTo>
                  <a:cubicBezTo>
                    <a:pt x="11417" y="2504"/>
                    <a:pt x="17461" y="0"/>
                    <a:pt x="23764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5309130" cy="500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14450" y="8130129"/>
            <a:ext cx="636117" cy="1416661"/>
            <a:chOff x="0" y="0"/>
            <a:chExt cx="6323285" cy="140822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23285" cy="14082237"/>
            </a:xfrm>
            <a:custGeom>
              <a:avLst/>
              <a:gdLst/>
              <a:ahLst/>
              <a:cxnLst/>
              <a:rect r="r" b="b" t="t" l="l"/>
              <a:pathLst>
                <a:path h="14082237" w="6323285">
                  <a:moveTo>
                    <a:pt x="601848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13777437"/>
                  </a:lnTo>
                  <a:cubicBezTo>
                    <a:pt x="0" y="13946346"/>
                    <a:pt x="135890" y="14082237"/>
                    <a:pt x="304800" y="14082237"/>
                  </a:cubicBezTo>
                  <a:lnTo>
                    <a:pt x="6018485" y="14082237"/>
                  </a:lnTo>
                  <a:cubicBezTo>
                    <a:pt x="6187394" y="14082237"/>
                    <a:pt x="6323285" y="13946346"/>
                    <a:pt x="6323285" y="13777437"/>
                  </a:cubicBezTo>
                  <a:lnTo>
                    <a:pt x="6323285" y="304800"/>
                  </a:lnTo>
                  <a:cubicBezTo>
                    <a:pt x="6323285" y="135890"/>
                    <a:pt x="6187394" y="0"/>
                    <a:pt x="6018485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2275165" y="8357488"/>
            <a:ext cx="1523846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</a:t>
            </a: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ld a Flask web application with MJPEG streaming, SQLite attendance DB, and REST API.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453926" y="8306981"/>
            <a:ext cx="483734" cy="44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263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5863" y="2151308"/>
            <a:ext cx="16615091" cy="1416661"/>
            <a:chOff x="0" y="0"/>
            <a:chExt cx="5309130" cy="4526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09129" cy="452675"/>
            </a:xfrm>
            <a:custGeom>
              <a:avLst/>
              <a:gdLst/>
              <a:ahLst/>
              <a:cxnLst/>
              <a:rect r="r" b="b" t="t" l="l"/>
              <a:pathLst>
                <a:path h="452675" w="5309129">
                  <a:moveTo>
                    <a:pt x="23764" y="0"/>
                  </a:moveTo>
                  <a:lnTo>
                    <a:pt x="5285366" y="0"/>
                  </a:lnTo>
                  <a:cubicBezTo>
                    <a:pt x="5291668" y="0"/>
                    <a:pt x="5297713" y="2504"/>
                    <a:pt x="5302169" y="6960"/>
                  </a:cubicBezTo>
                  <a:cubicBezTo>
                    <a:pt x="5306626" y="11417"/>
                    <a:pt x="5309129" y="17461"/>
                    <a:pt x="5309129" y="23764"/>
                  </a:cubicBezTo>
                  <a:lnTo>
                    <a:pt x="5309129" y="428911"/>
                  </a:lnTo>
                  <a:cubicBezTo>
                    <a:pt x="5309129" y="435214"/>
                    <a:pt x="5306626" y="441258"/>
                    <a:pt x="5302169" y="445715"/>
                  </a:cubicBezTo>
                  <a:cubicBezTo>
                    <a:pt x="5297713" y="450172"/>
                    <a:pt x="5291668" y="452675"/>
                    <a:pt x="5285366" y="452675"/>
                  </a:cubicBezTo>
                  <a:lnTo>
                    <a:pt x="23764" y="452675"/>
                  </a:lnTo>
                  <a:cubicBezTo>
                    <a:pt x="17461" y="452675"/>
                    <a:pt x="11417" y="450172"/>
                    <a:pt x="6960" y="445715"/>
                  </a:cubicBezTo>
                  <a:cubicBezTo>
                    <a:pt x="2504" y="441258"/>
                    <a:pt x="0" y="435214"/>
                    <a:pt x="0" y="428911"/>
                  </a:cubicBezTo>
                  <a:lnTo>
                    <a:pt x="0" y="23764"/>
                  </a:lnTo>
                  <a:cubicBezTo>
                    <a:pt x="0" y="17461"/>
                    <a:pt x="2504" y="11417"/>
                    <a:pt x="6960" y="6960"/>
                  </a:cubicBezTo>
                  <a:cubicBezTo>
                    <a:pt x="11417" y="2504"/>
                    <a:pt x="17461" y="0"/>
                    <a:pt x="23764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09130" cy="500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4450" y="2151308"/>
            <a:ext cx="636117" cy="1416661"/>
            <a:chOff x="0" y="0"/>
            <a:chExt cx="6323285" cy="140822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23285" cy="14082237"/>
            </a:xfrm>
            <a:custGeom>
              <a:avLst/>
              <a:gdLst/>
              <a:ahLst/>
              <a:cxnLst/>
              <a:rect r="r" b="b" t="t" l="l"/>
              <a:pathLst>
                <a:path h="14082237" w="6323285">
                  <a:moveTo>
                    <a:pt x="601848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13777437"/>
                  </a:lnTo>
                  <a:cubicBezTo>
                    <a:pt x="0" y="13946346"/>
                    <a:pt x="135890" y="14082237"/>
                    <a:pt x="304800" y="14082237"/>
                  </a:cubicBezTo>
                  <a:lnTo>
                    <a:pt x="6018485" y="14082237"/>
                  </a:lnTo>
                  <a:cubicBezTo>
                    <a:pt x="6187394" y="14082237"/>
                    <a:pt x="6323285" y="13946346"/>
                    <a:pt x="6323285" y="13777437"/>
                  </a:cubicBezTo>
                  <a:lnTo>
                    <a:pt x="6323285" y="304800"/>
                  </a:lnTo>
                  <a:cubicBezTo>
                    <a:pt x="6323285" y="135890"/>
                    <a:pt x="6187394" y="0"/>
                    <a:pt x="6018485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807264" y="9267825"/>
            <a:ext cx="1835964" cy="1335664"/>
          </a:xfrm>
          <a:custGeom>
            <a:avLst/>
            <a:gdLst/>
            <a:ahLst/>
            <a:cxnLst/>
            <a:rect r="r" b="b" t="t" l="l"/>
            <a:pathLst>
              <a:path h="1335664" w="1835964">
                <a:moveTo>
                  <a:pt x="0" y="0"/>
                </a:moveTo>
                <a:lnTo>
                  <a:pt x="1835964" y="0"/>
                </a:lnTo>
                <a:lnTo>
                  <a:pt x="1835964" y="1335664"/>
                </a:lnTo>
                <a:lnTo>
                  <a:pt x="0" y="13356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647278" y="-618490"/>
            <a:ext cx="1281444" cy="1853807"/>
          </a:xfrm>
          <a:custGeom>
            <a:avLst/>
            <a:gdLst/>
            <a:ahLst/>
            <a:cxnLst/>
            <a:rect r="r" b="b" t="t" l="l"/>
            <a:pathLst>
              <a:path h="1853807" w="1281444">
                <a:moveTo>
                  <a:pt x="0" y="0"/>
                </a:moveTo>
                <a:lnTo>
                  <a:pt x="1281444" y="0"/>
                </a:lnTo>
                <a:lnTo>
                  <a:pt x="1281444" y="1853807"/>
                </a:lnTo>
                <a:lnTo>
                  <a:pt x="0" y="18538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2275165" y="2378667"/>
            <a:ext cx="1523846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</a:t>
            </a: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ld a Flask web application with MJPEG streaming, SQLite attendance DB, and REST API.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14450" y="767173"/>
            <a:ext cx="10037241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BJ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CTI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3926" y="2328160"/>
            <a:ext cx="483734" cy="44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263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75863" y="3744978"/>
            <a:ext cx="16615091" cy="1416661"/>
            <a:chOff x="0" y="0"/>
            <a:chExt cx="5309130" cy="4526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09129" cy="452675"/>
            </a:xfrm>
            <a:custGeom>
              <a:avLst/>
              <a:gdLst/>
              <a:ahLst/>
              <a:cxnLst/>
              <a:rect r="r" b="b" t="t" l="l"/>
              <a:pathLst>
                <a:path h="452675" w="5309129">
                  <a:moveTo>
                    <a:pt x="23764" y="0"/>
                  </a:moveTo>
                  <a:lnTo>
                    <a:pt x="5285366" y="0"/>
                  </a:lnTo>
                  <a:cubicBezTo>
                    <a:pt x="5291668" y="0"/>
                    <a:pt x="5297713" y="2504"/>
                    <a:pt x="5302169" y="6960"/>
                  </a:cubicBezTo>
                  <a:cubicBezTo>
                    <a:pt x="5306626" y="11417"/>
                    <a:pt x="5309129" y="17461"/>
                    <a:pt x="5309129" y="23764"/>
                  </a:cubicBezTo>
                  <a:lnTo>
                    <a:pt x="5309129" y="428911"/>
                  </a:lnTo>
                  <a:cubicBezTo>
                    <a:pt x="5309129" y="435214"/>
                    <a:pt x="5306626" y="441258"/>
                    <a:pt x="5302169" y="445715"/>
                  </a:cubicBezTo>
                  <a:cubicBezTo>
                    <a:pt x="5297713" y="450172"/>
                    <a:pt x="5291668" y="452675"/>
                    <a:pt x="5285366" y="452675"/>
                  </a:cubicBezTo>
                  <a:lnTo>
                    <a:pt x="23764" y="452675"/>
                  </a:lnTo>
                  <a:cubicBezTo>
                    <a:pt x="17461" y="452675"/>
                    <a:pt x="11417" y="450172"/>
                    <a:pt x="6960" y="445715"/>
                  </a:cubicBezTo>
                  <a:cubicBezTo>
                    <a:pt x="2504" y="441258"/>
                    <a:pt x="0" y="435214"/>
                    <a:pt x="0" y="428911"/>
                  </a:cubicBezTo>
                  <a:lnTo>
                    <a:pt x="0" y="23764"/>
                  </a:lnTo>
                  <a:cubicBezTo>
                    <a:pt x="0" y="17461"/>
                    <a:pt x="2504" y="11417"/>
                    <a:pt x="6960" y="6960"/>
                  </a:cubicBezTo>
                  <a:cubicBezTo>
                    <a:pt x="11417" y="2504"/>
                    <a:pt x="17461" y="0"/>
                    <a:pt x="23764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309130" cy="500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14450" y="3744978"/>
            <a:ext cx="636117" cy="1416661"/>
            <a:chOff x="0" y="0"/>
            <a:chExt cx="6323285" cy="140822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23285" cy="14082237"/>
            </a:xfrm>
            <a:custGeom>
              <a:avLst/>
              <a:gdLst/>
              <a:ahLst/>
              <a:cxnLst/>
              <a:rect r="r" b="b" t="t" l="l"/>
              <a:pathLst>
                <a:path h="14082237" w="6323285">
                  <a:moveTo>
                    <a:pt x="601848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13777437"/>
                  </a:lnTo>
                  <a:cubicBezTo>
                    <a:pt x="0" y="13946346"/>
                    <a:pt x="135890" y="14082237"/>
                    <a:pt x="304800" y="14082237"/>
                  </a:cubicBezTo>
                  <a:lnTo>
                    <a:pt x="6018485" y="14082237"/>
                  </a:lnTo>
                  <a:cubicBezTo>
                    <a:pt x="6187394" y="14082237"/>
                    <a:pt x="6323285" y="13946346"/>
                    <a:pt x="6323285" y="13777437"/>
                  </a:cubicBezTo>
                  <a:lnTo>
                    <a:pt x="6323285" y="304800"/>
                  </a:lnTo>
                  <a:cubicBezTo>
                    <a:pt x="6323285" y="135890"/>
                    <a:pt x="6187394" y="0"/>
                    <a:pt x="6018485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275165" y="3972338"/>
            <a:ext cx="1523846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ntegrate Google TTS + pygame for non-blocking voice feedback on recognition events.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453926" y="3921830"/>
            <a:ext cx="483734" cy="44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263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75863" y="5342615"/>
            <a:ext cx="16615091" cy="1416661"/>
            <a:chOff x="0" y="0"/>
            <a:chExt cx="5309130" cy="4526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09129" cy="452675"/>
            </a:xfrm>
            <a:custGeom>
              <a:avLst/>
              <a:gdLst/>
              <a:ahLst/>
              <a:cxnLst/>
              <a:rect r="r" b="b" t="t" l="l"/>
              <a:pathLst>
                <a:path h="452675" w="5309129">
                  <a:moveTo>
                    <a:pt x="23764" y="0"/>
                  </a:moveTo>
                  <a:lnTo>
                    <a:pt x="5285366" y="0"/>
                  </a:lnTo>
                  <a:cubicBezTo>
                    <a:pt x="5291668" y="0"/>
                    <a:pt x="5297713" y="2504"/>
                    <a:pt x="5302169" y="6960"/>
                  </a:cubicBezTo>
                  <a:cubicBezTo>
                    <a:pt x="5306626" y="11417"/>
                    <a:pt x="5309129" y="17461"/>
                    <a:pt x="5309129" y="23764"/>
                  </a:cubicBezTo>
                  <a:lnTo>
                    <a:pt x="5309129" y="428911"/>
                  </a:lnTo>
                  <a:cubicBezTo>
                    <a:pt x="5309129" y="435214"/>
                    <a:pt x="5306626" y="441258"/>
                    <a:pt x="5302169" y="445715"/>
                  </a:cubicBezTo>
                  <a:cubicBezTo>
                    <a:pt x="5297713" y="450172"/>
                    <a:pt x="5291668" y="452675"/>
                    <a:pt x="5285366" y="452675"/>
                  </a:cubicBezTo>
                  <a:lnTo>
                    <a:pt x="23764" y="452675"/>
                  </a:lnTo>
                  <a:cubicBezTo>
                    <a:pt x="17461" y="452675"/>
                    <a:pt x="11417" y="450172"/>
                    <a:pt x="6960" y="445715"/>
                  </a:cubicBezTo>
                  <a:cubicBezTo>
                    <a:pt x="2504" y="441258"/>
                    <a:pt x="0" y="435214"/>
                    <a:pt x="0" y="428911"/>
                  </a:cubicBezTo>
                  <a:lnTo>
                    <a:pt x="0" y="23764"/>
                  </a:lnTo>
                  <a:cubicBezTo>
                    <a:pt x="0" y="17461"/>
                    <a:pt x="2504" y="11417"/>
                    <a:pt x="6960" y="6960"/>
                  </a:cubicBezTo>
                  <a:cubicBezTo>
                    <a:pt x="11417" y="2504"/>
                    <a:pt x="17461" y="0"/>
                    <a:pt x="23764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309130" cy="500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14450" y="5342615"/>
            <a:ext cx="636117" cy="1416661"/>
            <a:chOff x="0" y="0"/>
            <a:chExt cx="6323285" cy="140822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23285" cy="14082237"/>
            </a:xfrm>
            <a:custGeom>
              <a:avLst/>
              <a:gdLst/>
              <a:ahLst/>
              <a:cxnLst/>
              <a:rect r="r" b="b" t="t" l="l"/>
              <a:pathLst>
                <a:path h="14082237" w="6323285">
                  <a:moveTo>
                    <a:pt x="601848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13777437"/>
                  </a:lnTo>
                  <a:cubicBezTo>
                    <a:pt x="0" y="13946346"/>
                    <a:pt x="135890" y="14082237"/>
                    <a:pt x="304800" y="14082237"/>
                  </a:cubicBezTo>
                  <a:lnTo>
                    <a:pt x="6018485" y="14082237"/>
                  </a:lnTo>
                  <a:cubicBezTo>
                    <a:pt x="6187394" y="14082237"/>
                    <a:pt x="6323285" y="13946346"/>
                    <a:pt x="6323285" y="13777437"/>
                  </a:cubicBezTo>
                  <a:lnTo>
                    <a:pt x="6323285" y="304800"/>
                  </a:lnTo>
                  <a:cubicBezTo>
                    <a:pt x="6323285" y="135890"/>
                    <a:pt x="6187394" y="0"/>
                    <a:pt x="6018485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275165" y="5569974"/>
            <a:ext cx="1523846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Ensur</a:t>
            </a: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reliability under variable lighting, multiple simultaneous faces, and rapid head movements.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453926" y="5519467"/>
            <a:ext cx="483734" cy="44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263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75863" y="6940251"/>
            <a:ext cx="16615091" cy="1416661"/>
            <a:chOff x="0" y="0"/>
            <a:chExt cx="5309130" cy="4526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09129" cy="452675"/>
            </a:xfrm>
            <a:custGeom>
              <a:avLst/>
              <a:gdLst/>
              <a:ahLst/>
              <a:cxnLst/>
              <a:rect r="r" b="b" t="t" l="l"/>
              <a:pathLst>
                <a:path h="452675" w="5309129">
                  <a:moveTo>
                    <a:pt x="23764" y="0"/>
                  </a:moveTo>
                  <a:lnTo>
                    <a:pt x="5285366" y="0"/>
                  </a:lnTo>
                  <a:cubicBezTo>
                    <a:pt x="5291668" y="0"/>
                    <a:pt x="5297713" y="2504"/>
                    <a:pt x="5302169" y="6960"/>
                  </a:cubicBezTo>
                  <a:cubicBezTo>
                    <a:pt x="5306626" y="11417"/>
                    <a:pt x="5309129" y="17461"/>
                    <a:pt x="5309129" y="23764"/>
                  </a:cubicBezTo>
                  <a:lnTo>
                    <a:pt x="5309129" y="428911"/>
                  </a:lnTo>
                  <a:cubicBezTo>
                    <a:pt x="5309129" y="435214"/>
                    <a:pt x="5306626" y="441258"/>
                    <a:pt x="5302169" y="445715"/>
                  </a:cubicBezTo>
                  <a:cubicBezTo>
                    <a:pt x="5297713" y="450172"/>
                    <a:pt x="5291668" y="452675"/>
                    <a:pt x="5285366" y="452675"/>
                  </a:cubicBezTo>
                  <a:lnTo>
                    <a:pt x="23764" y="452675"/>
                  </a:lnTo>
                  <a:cubicBezTo>
                    <a:pt x="17461" y="452675"/>
                    <a:pt x="11417" y="450172"/>
                    <a:pt x="6960" y="445715"/>
                  </a:cubicBezTo>
                  <a:cubicBezTo>
                    <a:pt x="2504" y="441258"/>
                    <a:pt x="0" y="435214"/>
                    <a:pt x="0" y="428911"/>
                  </a:cubicBezTo>
                  <a:lnTo>
                    <a:pt x="0" y="23764"/>
                  </a:lnTo>
                  <a:cubicBezTo>
                    <a:pt x="0" y="17461"/>
                    <a:pt x="2504" y="11417"/>
                    <a:pt x="6960" y="6960"/>
                  </a:cubicBezTo>
                  <a:cubicBezTo>
                    <a:pt x="11417" y="2504"/>
                    <a:pt x="17461" y="0"/>
                    <a:pt x="23764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309130" cy="500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14450" y="6940251"/>
            <a:ext cx="636117" cy="1416661"/>
            <a:chOff x="0" y="0"/>
            <a:chExt cx="6323285" cy="140822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23285" cy="14082237"/>
            </a:xfrm>
            <a:custGeom>
              <a:avLst/>
              <a:gdLst/>
              <a:ahLst/>
              <a:cxnLst/>
              <a:rect r="r" b="b" t="t" l="l"/>
              <a:pathLst>
                <a:path h="14082237" w="6323285">
                  <a:moveTo>
                    <a:pt x="601848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13777437"/>
                  </a:lnTo>
                  <a:cubicBezTo>
                    <a:pt x="0" y="13946346"/>
                    <a:pt x="135890" y="14082237"/>
                    <a:pt x="304800" y="14082237"/>
                  </a:cubicBezTo>
                  <a:lnTo>
                    <a:pt x="6018485" y="14082237"/>
                  </a:lnTo>
                  <a:cubicBezTo>
                    <a:pt x="6187394" y="14082237"/>
                    <a:pt x="6323285" y="13946346"/>
                    <a:pt x="6323285" y="13777437"/>
                  </a:cubicBezTo>
                  <a:lnTo>
                    <a:pt x="6323285" y="304800"/>
                  </a:lnTo>
                  <a:cubicBezTo>
                    <a:pt x="6323285" y="135890"/>
                    <a:pt x="6187394" y="0"/>
                    <a:pt x="6018485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2275165" y="7167611"/>
            <a:ext cx="1523846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</a:t>
            </a: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eate a modular, scalable architecture extensible for surveillance, attendance &amp; assistive tech.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453926" y="7117103"/>
            <a:ext cx="483734" cy="44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263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13">
            <a:off x="-2352705" y="-20299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92728" y="1165909"/>
            <a:ext cx="11227834" cy="162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HARDWARE COMPON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ENTS</a:t>
            </a:r>
          </a:p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07000" y="2467408"/>
            <a:ext cx="5517789" cy="3338102"/>
            <a:chOff x="0" y="0"/>
            <a:chExt cx="1763136" cy="1066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63136" cy="1066646"/>
            </a:xfrm>
            <a:custGeom>
              <a:avLst/>
              <a:gdLst/>
              <a:ahLst/>
              <a:cxnLst/>
              <a:rect r="r" b="b" t="t" l="l"/>
              <a:pathLst>
                <a:path h="1066646" w="1763136">
                  <a:moveTo>
                    <a:pt x="71557" y="0"/>
                  </a:moveTo>
                  <a:lnTo>
                    <a:pt x="1691578" y="0"/>
                  </a:lnTo>
                  <a:cubicBezTo>
                    <a:pt x="1731098" y="0"/>
                    <a:pt x="1763136" y="32037"/>
                    <a:pt x="1763136" y="71557"/>
                  </a:cubicBezTo>
                  <a:lnTo>
                    <a:pt x="1763136" y="995089"/>
                  </a:lnTo>
                  <a:cubicBezTo>
                    <a:pt x="1763136" y="1014067"/>
                    <a:pt x="1755597" y="1032268"/>
                    <a:pt x="1742177" y="1045687"/>
                  </a:cubicBezTo>
                  <a:cubicBezTo>
                    <a:pt x="1728757" y="1059107"/>
                    <a:pt x="1710556" y="1066646"/>
                    <a:pt x="1691578" y="1066646"/>
                  </a:cubicBezTo>
                  <a:lnTo>
                    <a:pt x="71557" y="1066646"/>
                  </a:lnTo>
                  <a:cubicBezTo>
                    <a:pt x="52579" y="1066646"/>
                    <a:pt x="34378" y="1059107"/>
                    <a:pt x="20959" y="1045687"/>
                  </a:cubicBezTo>
                  <a:cubicBezTo>
                    <a:pt x="7539" y="1032268"/>
                    <a:pt x="0" y="1014067"/>
                    <a:pt x="0" y="995089"/>
                  </a:cubicBezTo>
                  <a:lnTo>
                    <a:pt x="0" y="71557"/>
                  </a:lnTo>
                  <a:cubicBezTo>
                    <a:pt x="0" y="52579"/>
                    <a:pt x="7539" y="34378"/>
                    <a:pt x="20959" y="20959"/>
                  </a:cubicBezTo>
                  <a:cubicBezTo>
                    <a:pt x="34378" y="7539"/>
                    <a:pt x="52579" y="0"/>
                    <a:pt x="71557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763136" cy="1114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07000" y="2467408"/>
            <a:ext cx="5517789" cy="922001"/>
            <a:chOff x="0" y="0"/>
            <a:chExt cx="54849246" cy="91650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49247" cy="9165096"/>
            </a:xfrm>
            <a:custGeom>
              <a:avLst/>
              <a:gdLst/>
              <a:ahLst/>
              <a:cxnLst/>
              <a:rect r="r" b="b" t="t" l="l"/>
              <a:pathLst>
                <a:path h="9165096" w="54849247">
                  <a:moveTo>
                    <a:pt x="54544447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860296"/>
                  </a:lnTo>
                  <a:cubicBezTo>
                    <a:pt x="0" y="9029206"/>
                    <a:pt x="135890" y="9165096"/>
                    <a:pt x="304800" y="9165096"/>
                  </a:cubicBezTo>
                  <a:lnTo>
                    <a:pt x="54544447" y="9165096"/>
                  </a:lnTo>
                  <a:cubicBezTo>
                    <a:pt x="54713355" y="9165096"/>
                    <a:pt x="54849247" y="9029206"/>
                    <a:pt x="54849247" y="8860296"/>
                  </a:cubicBezTo>
                  <a:lnTo>
                    <a:pt x="54849247" y="304800"/>
                  </a:lnTo>
                  <a:cubicBezTo>
                    <a:pt x="54849247" y="135890"/>
                    <a:pt x="54713355" y="0"/>
                    <a:pt x="54544447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3749761"/>
            <a:ext cx="4996090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640×480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@ 30 fps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USB 2.0 plug-and-play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Mounted on tilt servo bracket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07000" y="2731585"/>
            <a:ext cx="5516155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USB</a:t>
            </a: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Webcam</a:t>
            </a:r>
          </a:p>
          <a:p>
            <a:pPr algn="l">
              <a:lnSpc>
                <a:spcPts val="4199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505366" y="6205560"/>
            <a:ext cx="5517789" cy="3338102"/>
            <a:chOff x="0" y="0"/>
            <a:chExt cx="1763136" cy="1066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63136" cy="1066646"/>
            </a:xfrm>
            <a:custGeom>
              <a:avLst/>
              <a:gdLst/>
              <a:ahLst/>
              <a:cxnLst/>
              <a:rect r="r" b="b" t="t" l="l"/>
              <a:pathLst>
                <a:path h="1066646" w="1763136">
                  <a:moveTo>
                    <a:pt x="71557" y="0"/>
                  </a:moveTo>
                  <a:lnTo>
                    <a:pt x="1691578" y="0"/>
                  </a:lnTo>
                  <a:cubicBezTo>
                    <a:pt x="1731098" y="0"/>
                    <a:pt x="1763136" y="32037"/>
                    <a:pt x="1763136" y="71557"/>
                  </a:cubicBezTo>
                  <a:lnTo>
                    <a:pt x="1763136" y="995089"/>
                  </a:lnTo>
                  <a:cubicBezTo>
                    <a:pt x="1763136" y="1014067"/>
                    <a:pt x="1755597" y="1032268"/>
                    <a:pt x="1742177" y="1045687"/>
                  </a:cubicBezTo>
                  <a:cubicBezTo>
                    <a:pt x="1728757" y="1059107"/>
                    <a:pt x="1710556" y="1066646"/>
                    <a:pt x="1691578" y="1066646"/>
                  </a:cubicBezTo>
                  <a:lnTo>
                    <a:pt x="71557" y="1066646"/>
                  </a:lnTo>
                  <a:cubicBezTo>
                    <a:pt x="52579" y="1066646"/>
                    <a:pt x="34378" y="1059107"/>
                    <a:pt x="20959" y="1045687"/>
                  </a:cubicBezTo>
                  <a:cubicBezTo>
                    <a:pt x="7539" y="1032268"/>
                    <a:pt x="0" y="1014067"/>
                    <a:pt x="0" y="995089"/>
                  </a:cubicBezTo>
                  <a:lnTo>
                    <a:pt x="0" y="71557"/>
                  </a:lnTo>
                  <a:cubicBezTo>
                    <a:pt x="0" y="52579"/>
                    <a:pt x="7539" y="34378"/>
                    <a:pt x="20959" y="20959"/>
                  </a:cubicBezTo>
                  <a:cubicBezTo>
                    <a:pt x="34378" y="7539"/>
                    <a:pt x="52579" y="0"/>
                    <a:pt x="71557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763136" cy="1114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5366" y="6205560"/>
            <a:ext cx="5517789" cy="922001"/>
            <a:chOff x="0" y="0"/>
            <a:chExt cx="54849246" cy="91650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49247" cy="9165096"/>
            </a:xfrm>
            <a:custGeom>
              <a:avLst/>
              <a:gdLst/>
              <a:ahLst/>
              <a:cxnLst/>
              <a:rect r="r" b="b" t="t" l="l"/>
              <a:pathLst>
                <a:path h="9165096" w="54849247">
                  <a:moveTo>
                    <a:pt x="54544447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860296"/>
                  </a:lnTo>
                  <a:cubicBezTo>
                    <a:pt x="0" y="9029206"/>
                    <a:pt x="135890" y="9165096"/>
                    <a:pt x="304800" y="9165096"/>
                  </a:cubicBezTo>
                  <a:lnTo>
                    <a:pt x="54544447" y="9165096"/>
                  </a:lnTo>
                  <a:cubicBezTo>
                    <a:pt x="54713355" y="9165096"/>
                    <a:pt x="54849247" y="9029206"/>
                    <a:pt x="54849247" y="8860296"/>
                  </a:cubicBezTo>
                  <a:lnTo>
                    <a:pt x="54849247" y="304800"/>
                  </a:lnTo>
                  <a:cubicBezTo>
                    <a:pt x="54849247" y="135890"/>
                    <a:pt x="54713355" y="0"/>
                    <a:pt x="54544447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27066" y="7487913"/>
            <a:ext cx="4996090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USB / 3.5 mm input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speech_recognition library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ommands: start, stop, identify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05366" y="6469738"/>
            <a:ext cx="5516155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</a:t>
            </a: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crophone</a:t>
            </a:r>
          </a:p>
          <a:p>
            <a:pPr algn="l">
              <a:lnSpc>
                <a:spcPts val="4199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6385922" y="2467408"/>
            <a:ext cx="5517789" cy="3338102"/>
            <a:chOff x="0" y="0"/>
            <a:chExt cx="1763136" cy="10666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63136" cy="1066646"/>
            </a:xfrm>
            <a:custGeom>
              <a:avLst/>
              <a:gdLst/>
              <a:ahLst/>
              <a:cxnLst/>
              <a:rect r="r" b="b" t="t" l="l"/>
              <a:pathLst>
                <a:path h="1066646" w="1763136">
                  <a:moveTo>
                    <a:pt x="71557" y="0"/>
                  </a:moveTo>
                  <a:lnTo>
                    <a:pt x="1691578" y="0"/>
                  </a:lnTo>
                  <a:cubicBezTo>
                    <a:pt x="1731098" y="0"/>
                    <a:pt x="1763136" y="32037"/>
                    <a:pt x="1763136" y="71557"/>
                  </a:cubicBezTo>
                  <a:lnTo>
                    <a:pt x="1763136" y="995089"/>
                  </a:lnTo>
                  <a:cubicBezTo>
                    <a:pt x="1763136" y="1014067"/>
                    <a:pt x="1755597" y="1032268"/>
                    <a:pt x="1742177" y="1045687"/>
                  </a:cubicBezTo>
                  <a:cubicBezTo>
                    <a:pt x="1728757" y="1059107"/>
                    <a:pt x="1710556" y="1066646"/>
                    <a:pt x="1691578" y="1066646"/>
                  </a:cubicBezTo>
                  <a:lnTo>
                    <a:pt x="71557" y="1066646"/>
                  </a:lnTo>
                  <a:cubicBezTo>
                    <a:pt x="52579" y="1066646"/>
                    <a:pt x="34378" y="1059107"/>
                    <a:pt x="20959" y="1045687"/>
                  </a:cubicBezTo>
                  <a:cubicBezTo>
                    <a:pt x="7539" y="1032268"/>
                    <a:pt x="0" y="1014067"/>
                    <a:pt x="0" y="995089"/>
                  </a:cubicBezTo>
                  <a:lnTo>
                    <a:pt x="0" y="71557"/>
                  </a:lnTo>
                  <a:cubicBezTo>
                    <a:pt x="0" y="52579"/>
                    <a:pt x="7539" y="34378"/>
                    <a:pt x="20959" y="20959"/>
                  </a:cubicBezTo>
                  <a:cubicBezTo>
                    <a:pt x="34378" y="7539"/>
                    <a:pt x="52579" y="0"/>
                    <a:pt x="71557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763136" cy="1114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85922" y="2467408"/>
            <a:ext cx="5517789" cy="922001"/>
            <a:chOff x="0" y="0"/>
            <a:chExt cx="54849246" cy="91650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49247" cy="9165096"/>
            </a:xfrm>
            <a:custGeom>
              <a:avLst/>
              <a:gdLst/>
              <a:ahLst/>
              <a:cxnLst/>
              <a:rect r="r" b="b" t="t" l="l"/>
              <a:pathLst>
                <a:path h="9165096" w="54849247">
                  <a:moveTo>
                    <a:pt x="54544447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860296"/>
                  </a:lnTo>
                  <a:cubicBezTo>
                    <a:pt x="0" y="9029206"/>
                    <a:pt x="135890" y="9165096"/>
                    <a:pt x="304800" y="9165096"/>
                  </a:cubicBezTo>
                  <a:lnTo>
                    <a:pt x="54544447" y="9165096"/>
                  </a:lnTo>
                  <a:cubicBezTo>
                    <a:pt x="54713355" y="9165096"/>
                    <a:pt x="54849247" y="9029206"/>
                    <a:pt x="54849247" y="8860296"/>
                  </a:cubicBezTo>
                  <a:lnTo>
                    <a:pt x="54849247" y="304800"/>
                  </a:lnTo>
                  <a:cubicBezTo>
                    <a:pt x="54849247" y="135890"/>
                    <a:pt x="54713355" y="0"/>
                    <a:pt x="54544447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907622" y="3749761"/>
            <a:ext cx="4996090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ATmega328P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16 MHz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32 KB Flash, Hardware PWM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UART 115,200 bps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6385922" y="2731585"/>
            <a:ext cx="5516155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Arduino Uno</a:t>
            </a: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R3</a:t>
            </a:r>
          </a:p>
          <a:p>
            <a:pPr algn="l">
              <a:lnSpc>
                <a:spcPts val="4199"/>
              </a:lnSpc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6384288" y="6205560"/>
            <a:ext cx="5517789" cy="3338102"/>
            <a:chOff x="0" y="0"/>
            <a:chExt cx="1763136" cy="106664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63136" cy="1066646"/>
            </a:xfrm>
            <a:custGeom>
              <a:avLst/>
              <a:gdLst/>
              <a:ahLst/>
              <a:cxnLst/>
              <a:rect r="r" b="b" t="t" l="l"/>
              <a:pathLst>
                <a:path h="1066646" w="1763136">
                  <a:moveTo>
                    <a:pt x="71557" y="0"/>
                  </a:moveTo>
                  <a:lnTo>
                    <a:pt x="1691578" y="0"/>
                  </a:lnTo>
                  <a:cubicBezTo>
                    <a:pt x="1731098" y="0"/>
                    <a:pt x="1763136" y="32037"/>
                    <a:pt x="1763136" y="71557"/>
                  </a:cubicBezTo>
                  <a:lnTo>
                    <a:pt x="1763136" y="995089"/>
                  </a:lnTo>
                  <a:cubicBezTo>
                    <a:pt x="1763136" y="1014067"/>
                    <a:pt x="1755597" y="1032268"/>
                    <a:pt x="1742177" y="1045687"/>
                  </a:cubicBezTo>
                  <a:cubicBezTo>
                    <a:pt x="1728757" y="1059107"/>
                    <a:pt x="1710556" y="1066646"/>
                    <a:pt x="1691578" y="1066646"/>
                  </a:cubicBezTo>
                  <a:lnTo>
                    <a:pt x="71557" y="1066646"/>
                  </a:lnTo>
                  <a:cubicBezTo>
                    <a:pt x="52579" y="1066646"/>
                    <a:pt x="34378" y="1059107"/>
                    <a:pt x="20959" y="1045687"/>
                  </a:cubicBezTo>
                  <a:cubicBezTo>
                    <a:pt x="7539" y="1032268"/>
                    <a:pt x="0" y="1014067"/>
                    <a:pt x="0" y="995089"/>
                  </a:cubicBezTo>
                  <a:lnTo>
                    <a:pt x="0" y="71557"/>
                  </a:lnTo>
                  <a:cubicBezTo>
                    <a:pt x="0" y="52579"/>
                    <a:pt x="7539" y="34378"/>
                    <a:pt x="20959" y="20959"/>
                  </a:cubicBezTo>
                  <a:cubicBezTo>
                    <a:pt x="34378" y="7539"/>
                    <a:pt x="52579" y="0"/>
                    <a:pt x="71557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763136" cy="1114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384288" y="6205560"/>
            <a:ext cx="5517789" cy="922001"/>
            <a:chOff x="0" y="0"/>
            <a:chExt cx="54849246" cy="91650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49247" cy="9165096"/>
            </a:xfrm>
            <a:custGeom>
              <a:avLst/>
              <a:gdLst/>
              <a:ahLst/>
              <a:cxnLst/>
              <a:rect r="r" b="b" t="t" l="l"/>
              <a:pathLst>
                <a:path h="9165096" w="54849247">
                  <a:moveTo>
                    <a:pt x="54544447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860296"/>
                  </a:lnTo>
                  <a:cubicBezTo>
                    <a:pt x="0" y="9029206"/>
                    <a:pt x="135890" y="9165096"/>
                    <a:pt x="304800" y="9165096"/>
                  </a:cubicBezTo>
                  <a:lnTo>
                    <a:pt x="54544447" y="9165096"/>
                  </a:lnTo>
                  <a:cubicBezTo>
                    <a:pt x="54713355" y="9165096"/>
                    <a:pt x="54849247" y="9029206"/>
                    <a:pt x="54849247" y="8860296"/>
                  </a:cubicBezTo>
                  <a:lnTo>
                    <a:pt x="54849247" y="304800"/>
                  </a:lnTo>
                  <a:cubicBezTo>
                    <a:pt x="54849247" y="135890"/>
                    <a:pt x="54713355" y="0"/>
                    <a:pt x="54544447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6905988" y="7487913"/>
            <a:ext cx="4996090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Compact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active speaker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gTT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 + pygame.mixer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ority-queued TTS playback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6384288" y="6469738"/>
            <a:ext cx="5516155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</a:t>
            </a: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eaker</a:t>
            </a:r>
          </a:p>
          <a:p>
            <a:pPr algn="l">
              <a:lnSpc>
                <a:spcPts val="4199"/>
              </a:lnSpc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12264845" y="2467408"/>
            <a:ext cx="5517789" cy="3338102"/>
            <a:chOff x="0" y="0"/>
            <a:chExt cx="1763136" cy="106664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63136" cy="1066646"/>
            </a:xfrm>
            <a:custGeom>
              <a:avLst/>
              <a:gdLst/>
              <a:ahLst/>
              <a:cxnLst/>
              <a:rect r="r" b="b" t="t" l="l"/>
              <a:pathLst>
                <a:path h="1066646" w="1763136">
                  <a:moveTo>
                    <a:pt x="71557" y="0"/>
                  </a:moveTo>
                  <a:lnTo>
                    <a:pt x="1691578" y="0"/>
                  </a:lnTo>
                  <a:cubicBezTo>
                    <a:pt x="1731098" y="0"/>
                    <a:pt x="1763136" y="32037"/>
                    <a:pt x="1763136" y="71557"/>
                  </a:cubicBezTo>
                  <a:lnTo>
                    <a:pt x="1763136" y="995089"/>
                  </a:lnTo>
                  <a:cubicBezTo>
                    <a:pt x="1763136" y="1014067"/>
                    <a:pt x="1755597" y="1032268"/>
                    <a:pt x="1742177" y="1045687"/>
                  </a:cubicBezTo>
                  <a:cubicBezTo>
                    <a:pt x="1728757" y="1059107"/>
                    <a:pt x="1710556" y="1066646"/>
                    <a:pt x="1691578" y="1066646"/>
                  </a:cubicBezTo>
                  <a:lnTo>
                    <a:pt x="71557" y="1066646"/>
                  </a:lnTo>
                  <a:cubicBezTo>
                    <a:pt x="52579" y="1066646"/>
                    <a:pt x="34378" y="1059107"/>
                    <a:pt x="20959" y="1045687"/>
                  </a:cubicBezTo>
                  <a:cubicBezTo>
                    <a:pt x="7539" y="1032268"/>
                    <a:pt x="0" y="1014067"/>
                    <a:pt x="0" y="995089"/>
                  </a:cubicBezTo>
                  <a:lnTo>
                    <a:pt x="0" y="71557"/>
                  </a:lnTo>
                  <a:cubicBezTo>
                    <a:pt x="0" y="52579"/>
                    <a:pt x="7539" y="34378"/>
                    <a:pt x="20959" y="20959"/>
                  </a:cubicBezTo>
                  <a:cubicBezTo>
                    <a:pt x="34378" y="7539"/>
                    <a:pt x="52579" y="0"/>
                    <a:pt x="71557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763136" cy="1114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64845" y="2467408"/>
            <a:ext cx="5517789" cy="922001"/>
            <a:chOff x="0" y="0"/>
            <a:chExt cx="54849246" cy="916509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849247" cy="9165096"/>
            </a:xfrm>
            <a:custGeom>
              <a:avLst/>
              <a:gdLst/>
              <a:ahLst/>
              <a:cxnLst/>
              <a:rect r="r" b="b" t="t" l="l"/>
              <a:pathLst>
                <a:path h="9165096" w="54849247">
                  <a:moveTo>
                    <a:pt x="54544447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860296"/>
                  </a:lnTo>
                  <a:cubicBezTo>
                    <a:pt x="0" y="9029206"/>
                    <a:pt x="135890" y="9165096"/>
                    <a:pt x="304800" y="9165096"/>
                  </a:cubicBezTo>
                  <a:lnTo>
                    <a:pt x="54544447" y="9165096"/>
                  </a:lnTo>
                  <a:cubicBezTo>
                    <a:pt x="54713355" y="9165096"/>
                    <a:pt x="54849247" y="9029206"/>
                    <a:pt x="54849247" y="8860296"/>
                  </a:cubicBezTo>
                  <a:lnTo>
                    <a:pt x="54849247" y="304800"/>
                  </a:lnTo>
                  <a:cubicBezTo>
                    <a:pt x="54849247" y="135890"/>
                    <a:pt x="54713355" y="0"/>
                    <a:pt x="54544447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2786544" y="3749761"/>
            <a:ext cx="4996090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180°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micro servo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1.8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kg·cm @ 4.8 V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50 Hz PWM, 500–2400 μs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2264845" y="2731585"/>
            <a:ext cx="5516155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SG90</a:t>
            </a: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Servo (×2)</a:t>
            </a:r>
          </a:p>
          <a:p>
            <a:pPr algn="l">
              <a:lnSpc>
                <a:spcPts val="4199"/>
              </a:lnSpc>
            </a:pPr>
          </a:p>
        </p:txBody>
      </p:sp>
      <p:grpSp>
        <p:nvGrpSpPr>
          <p:cNvPr name="Group 41" id="41"/>
          <p:cNvGrpSpPr/>
          <p:nvPr/>
        </p:nvGrpSpPr>
        <p:grpSpPr>
          <a:xfrm rot="0">
            <a:off x="12263210" y="6205560"/>
            <a:ext cx="5517789" cy="3338102"/>
            <a:chOff x="0" y="0"/>
            <a:chExt cx="1763136" cy="106664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63136" cy="1066646"/>
            </a:xfrm>
            <a:custGeom>
              <a:avLst/>
              <a:gdLst/>
              <a:ahLst/>
              <a:cxnLst/>
              <a:rect r="r" b="b" t="t" l="l"/>
              <a:pathLst>
                <a:path h="1066646" w="1763136">
                  <a:moveTo>
                    <a:pt x="71557" y="0"/>
                  </a:moveTo>
                  <a:lnTo>
                    <a:pt x="1691578" y="0"/>
                  </a:lnTo>
                  <a:cubicBezTo>
                    <a:pt x="1731098" y="0"/>
                    <a:pt x="1763136" y="32037"/>
                    <a:pt x="1763136" y="71557"/>
                  </a:cubicBezTo>
                  <a:lnTo>
                    <a:pt x="1763136" y="995089"/>
                  </a:lnTo>
                  <a:cubicBezTo>
                    <a:pt x="1763136" y="1014067"/>
                    <a:pt x="1755597" y="1032268"/>
                    <a:pt x="1742177" y="1045687"/>
                  </a:cubicBezTo>
                  <a:cubicBezTo>
                    <a:pt x="1728757" y="1059107"/>
                    <a:pt x="1710556" y="1066646"/>
                    <a:pt x="1691578" y="1066646"/>
                  </a:cubicBezTo>
                  <a:lnTo>
                    <a:pt x="71557" y="1066646"/>
                  </a:lnTo>
                  <a:cubicBezTo>
                    <a:pt x="52579" y="1066646"/>
                    <a:pt x="34378" y="1059107"/>
                    <a:pt x="20959" y="1045687"/>
                  </a:cubicBezTo>
                  <a:cubicBezTo>
                    <a:pt x="7539" y="1032268"/>
                    <a:pt x="0" y="1014067"/>
                    <a:pt x="0" y="995089"/>
                  </a:cubicBezTo>
                  <a:lnTo>
                    <a:pt x="0" y="71557"/>
                  </a:lnTo>
                  <a:cubicBezTo>
                    <a:pt x="0" y="52579"/>
                    <a:pt x="7539" y="34378"/>
                    <a:pt x="20959" y="20959"/>
                  </a:cubicBezTo>
                  <a:cubicBezTo>
                    <a:pt x="34378" y="7539"/>
                    <a:pt x="52579" y="0"/>
                    <a:pt x="71557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763136" cy="1114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263210" y="6205560"/>
            <a:ext cx="5517789" cy="922001"/>
            <a:chOff x="0" y="0"/>
            <a:chExt cx="54849246" cy="916509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849247" cy="9165096"/>
            </a:xfrm>
            <a:custGeom>
              <a:avLst/>
              <a:gdLst/>
              <a:ahLst/>
              <a:cxnLst/>
              <a:rect r="r" b="b" t="t" l="l"/>
              <a:pathLst>
                <a:path h="9165096" w="54849247">
                  <a:moveTo>
                    <a:pt x="54544447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860296"/>
                  </a:lnTo>
                  <a:cubicBezTo>
                    <a:pt x="0" y="9029206"/>
                    <a:pt x="135890" y="9165096"/>
                    <a:pt x="304800" y="9165096"/>
                  </a:cubicBezTo>
                  <a:lnTo>
                    <a:pt x="54544447" y="9165096"/>
                  </a:lnTo>
                  <a:cubicBezTo>
                    <a:pt x="54713355" y="9165096"/>
                    <a:pt x="54849247" y="9029206"/>
                    <a:pt x="54849247" y="8860296"/>
                  </a:cubicBezTo>
                  <a:lnTo>
                    <a:pt x="54849247" y="304800"/>
                  </a:lnTo>
                  <a:cubicBezTo>
                    <a:pt x="54849247" y="135890"/>
                    <a:pt x="54713355" y="0"/>
                    <a:pt x="54544447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2784910" y="7468863"/>
            <a:ext cx="4996090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4×AA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or USB power bank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≈1.2 A capacity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owers both servos independently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12263210" y="6469738"/>
            <a:ext cx="5516155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</a:t>
            </a: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ernal 5 V PSU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13">
            <a:off x="-2352705" y="-20299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92728" y="1165909"/>
            <a:ext cx="11227834" cy="162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SOFTWARE S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TACK</a:t>
            </a:r>
          </a:p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73650" y="2105458"/>
            <a:ext cx="8637000" cy="3845058"/>
            <a:chOff x="0" y="0"/>
            <a:chExt cx="2759837" cy="12286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59838" cy="1228637"/>
            </a:xfrm>
            <a:custGeom>
              <a:avLst/>
              <a:gdLst/>
              <a:ahLst/>
              <a:cxnLst/>
              <a:rect r="r" b="b" t="t" l="l"/>
              <a:pathLst>
                <a:path h="1228637" w="2759838">
                  <a:moveTo>
                    <a:pt x="45715" y="0"/>
                  </a:moveTo>
                  <a:lnTo>
                    <a:pt x="2714123" y="0"/>
                  </a:lnTo>
                  <a:cubicBezTo>
                    <a:pt x="2739370" y="0"/>
                    <a:pt x="2759838" y="20467"/>
                    <a:pt x="2759838" y="45715"/>
                  </a:cubicBezTo>
                  <a:lnTo>
                    <a:pt x="2759838" y="1182922"/>
                  </a:lnTo>
                  <a:cubicBezTo>
                    <a:pt x="2759838" y="1208170"/>
                    <a:pt x="2739370" y="1228637"/>
                    <a:pt x="2714123" y="1228637"/>
                  </a:cubicBezTo>
                  <a:lnTo>
                    <a:pt x="45715" y="1228637"/>
                  </a:lnTo>
                  <a:cubicBezTo>
                    <a:pt x="20467" y="1228637"/>
                    <a:pt x="0" y="1208170"/>
                    <a:pt x="0" y="1182922"/>
                  </a:cubicBezTo>
                  <a:lnTo>
                    <a:pt x="0" y="45715"/>
                  </a:lnTo>
                  <a:cubicBezTo>
                    <a:pt x="0" y="20467"/>
                    <a:pt x="20467" y="0"/>
                    <a:pt x="45715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59837" cy="1276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73650" y="2105458"/>
            <a:ext cx="8637000" cy="922001"/>
            <a:chOff x="0" y="0"/>
            <a:chExt cx="85855565" cy="91650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855566" cy="9165096"/>
            </a:xfrm>
            <a:custGeom>
              <a:avLst/>
              <a:gdLst/>
              <a:ahLst/>
              <a:cxnLst/>
              <a:rect r="r" b="b" t="t" l="l"/>
              <a:pathLst>
                <a:path h="9165096" w="85855566">
                  <a:moveTo>
                    <a:pt x="8555076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860296"/>
                  </a:lnTo>
                  <a:cubicBezTo>
                    <a:pt x="0" y="9029206"/>
                    <a:pt x="135890" y="9165096"/>
                    <a:pt x="304800" y="9165096"/>
                  </a:cubicBezTo>
                  <a:lnTo>
                    <a:pt x="85550766" y="9165096"/>
                  </a:lnTo>
                  <a:cubicBezTo>
                    <a:pt x="85719673" y="9165096"/>
                    <a:pt x="85855566" y="9029206"/>
                    <a:pt x="85855566" y="8860296"/>
                  </a:cubicBezTo>
                  <a:lnTo>
                    <a:pt x="85855566" y="304800"/>
                  </a:lnTo>
                  <a:cubicBezTo>
                    <a:pt x="85855566" y="135890"/>
                    <a:pt x="85719673" y="0"/>
                    <a:pt x="85550766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95350" y="3159211"/>
            <a:ext cx="8115300" cy="304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•OpenCV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— frame capture &amp; processing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•MediaPipe BlazeFace — face bounding box detection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•InsightFace (ArcFace) — 512-d face embeddings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•DeepFace — emotion classification (happy/sad/angry…)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73650" y="2369635"/>
            <a:ext cx="86370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Vision</a:t>
            </a:r>
          </a:p>
          <a:p>
            <a:pPr algn="l">
              <a:lnSpc>
                <a:spcPts val="4199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9411212" y="2105458"/>
            <a:ext cx="8637000" cy="3845058"/>
            <a:chOff x="0" y="0"/>
            <a:chExt cx="2759837" cy="12286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59838" cy="1228637"/>
            </a:xfrm>
            <a:custGeom>
              <a:avLst/>
              <a:gdLst/>
              <a:ahLst/>
              <a:cxnLst/>
              <a:rect r="r" b="b" t="t" l="l"/>
              <a:pathLst>
                <a:path h="1228637" w="2759838">
                  <a:moveTo>
                    <a:pt x="45715" y="0"/>
                  </a:moveTo>
                  <a:lnTo>
                    <a:pt x="2714123" y="0"/>
                  </a:lnTo>
                  <a:cubicBezTo>
                    <a:pt x="2739370" y="0"/>
                    <a:pt x="2759838" y="20467"/>
                    <a:pt x="2759838" y="45715"/>
                  </a:cubicBezTo>
                  <a:lnTo>
                    <a:pt x="2759838" y="1182922"/>
                  </a:lnTo>
                  <a:cubicBezTo>
                    <a:pt x="2759838" y="1208170"/>
                    <a:pt x="2739370" y="1228637"/>
                    <a:pt x="2714123" y="1228637"/>
                  </a:cubicBezTo>
                  <a:lnTo>
                    <a:pt x="45715" y="1228637"/>
                  </a:lnTo>
                  <a:cubicBezTo>
                    <a:pt x="20467" y="1228637"/>
                    <a:pt x="0" y="1208170"/>
                    <a:pt x="0" y="1182922"/>
                  </a:cubicBezTo>
                  <a:lnTo>
                    <a:pt x="0" y="45715"/>
                  </a:lnTo>
                  <a:cubicBezTo>
                    <a:pt x="0" y="20467"/>
                    <a:pt x="20467" y="0"/>
                    <a:pt x="45715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759837" cy="1276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11212" y="2105458"/>
            <a:ext cx="8637000" cy="922001"/>
            <a:chOff x="0" y="0"/>
            <a:chExt cx="85855565" cy="91650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855566" cy="9165096"/>
            </a:xfrm>
            <a:custGeom>
              <a:avLst/>
              <a:gdLst/>
              <a:ahLst/>
              <a:cxnLst/>
              <a:rect r="r" b="b" t="t" l="l"/>
              <a:pathLst>
                <a:path h="9165096" w="85855566">
                  <a:moveTo>
                    <a:pt x="8555076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860296"/>
                  </a:lnTo>
                  <a:cubicBezTo>
                    <a:pt x="0" y="9029206"/>
                    <a:pt x="135890" y="9165096"/>
                    <a:pt x="304800" y="9165096"/>
                  </a:cubicBezTo>
                  <a:lnTo>
                    <a:pt x="85550766" y="9165096"/>
                  </a:lnTo>
                  <a:cubicBezTo>
                    <a:pt x="85719673" y="9165096"/>
                    <a:pt x="85855566" y="9029206"/>
                    <a:pt x="85855566" y="8860296"/>
                  </a:cubicBezTo>
                  <a:lnTo>
                    <a:pt x="85855566" y="304800"/>
                  </a:lnTo>
                  <a:cubicBezTo>
                    <a:pt x="85855566" y="135890"/>
                    <a:pt x="85719673" y="0"/>
                    <a:pt x="85550766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932911" y="3208434"/>
            <a:ext cx="7875828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•arduino_serial.py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— ArduinoBridge class (pyserial)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•servo_ctrl.py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— P-controller + EMA smoothing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•25 px deadzone to suppress servo chatter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•Servo.h on Arduino — hardware PWM at 50 Hz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411212" y="2369635"/>
            <a:ext cx="86370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</a:t>
            </a:r>
          </a:p>
          <a:p>
            <a:pPr algn="l">
              <a:lnSpc>
                <a:spcPts val="4199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373650" y="6200861"/>
            <a:ext cx="8637000" cy="3845058"/>
            <a:chOff x="0" y="0"/>
            <a:chExt cx="2759837" cy="122863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59838" cy="1228637"/>
            </a:xfrm>
            <a:custGeom>
              <a:avLst/>
              <a:gdLst/>
              <a:ahLst/>
              <a:cxnLst/>
              <a:rect r="r" b="b" t="t" l="l"/>
              <a:pathLst>
                <a:path h="1228637" w="2759838">
                  <a:moveTo>
                    <a:pt x="45715" y="0"/>
                  </a:moveTo>
                  <a:lnTo>
                    <a:pt x="2714123" y="0"/>
                  </a:lnTo>
                  <a:cubicBezTo>
                    <a:pt x="2739370" y="0"/>
                    <a:pt x="2759838" y="20467"/>
                    <a:pt x="2759838" y="45715"/>
                  </a:cubicBezTo>
                  <a:lnTo>
                    <a:pt x="2759838" y="1182922"/>
                  </a:lnTo>
                  <a:cubicBezTo>
                    <a:pt x="2759838" y="1208170"/>
                    <a:pt x="2739370" y="1228637"/>
                    <a:pt x="2714123" y="1228637"/>
                  </a:cubicBezTo>
                  <a:lnTo>
                    <a:pt x="45715" y="1228637"/>
                  </a:lnTo>
                  <a:cubicBezTo>
                    <a:pt x="20467" y="1228637"/>
                    <a:pt x="0" y="1208170"/>
                    <a:pt x="0" y="1182922"/>
                  </a:cubicBezTo>
                  <a:lnTo>
                    <a:pt x="0" y="45715"/>
                  </a:lnTo>
                  <a:cubicBezTo>
                    <a:pt x="0" y="20467"/>
                    <a:pt x="20467" y="0"/>
                    <a:pt x="45715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759837" cy="1276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73650" y="6200861"/>
            <a:ext cx="8637000" cy="922001"/>
            <a:chOff x="0" y="0"/>
            <a:chExt cx="85855565" cy="91650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855566" cy="9165096"/>
            </a:xfrm>
            <a:custGeom>
              <a:avLst/>
              <a:gdLst/>
              <a:ahLst/>
              <a:cxnLst/>
              <a:rect r="r" b="b" t="t" l="l"/>
              <a:pathLst>
                <a:path h="9165096" w="85855566">
                  <a:moveTo>
                    <a:pt x="8555076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860296"/>
                  </a:lnTo>
                  <a:cubicBezTo>
                    <a:pt x="0" y="9029206"/>
                    <a:pt x="135890" y="9165096"/>
                    <a:pt x="304800" y="9165096"/>
                  </a:cubicBezTo>
                  <a:lnTo>
                    <a:pt x="85550766" y="9165096"/>
                  </a:lnTo>
                  <a:cubicBezTo>
                    <a:pt x="85719673" y="9165096"/>
                    <a:pt x="85855566" y="9029206"/>
                    <a:pt x="85855566" y="8860296"/>
                  </a:cubicBezTo>
                  <a:lnTo>
                    <a:pt x="85855566" y="304800"/>
                  </a:lnTo>
                  <a:cubicBezTo>
                    <a:pt x="85855566" y="135890"/>
                    <a:pt x="85719673" y="0"/>
                    <a:pt x="85550766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895350" y="7254614"/>
            <a:ext cx="8115300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•Flask (app.py)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— web server &amp; REST API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•MJPEG /video_feed streaming endpoint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•SQLAlchemy + SQLite — Person &amp; Attendance ORM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•JavaScript (fetch) — live dashboard updates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373650" y="6465038"/>
            <a:ext cx="86370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 &amp; DB</a:t>
            </a:r>
          </a:p>
          <a:p>
            <a:pPr algn="l">
              <a:lnSpc>
                <a:spcPts val="4199"/>
              </a:lnSpc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9411212" y="6200861"/>
            <a:ext cx="8637000" cy="3845058"/>
            <a:chOff x="0" y="0"/>
            <a:chExt cx="2759837" cy="122863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59838" cy="1228637"/>
            </a:xfrm>
            <a:custGeom>
              <a:avLst/>
              <a:gdLst/>
              <a:ahLst/>
              <a:cxnLst/>
              <a:rect r="r" b="b" t="t" l="l"/>
              <a:pathLst>
                <a:path h="1228637" w="2759838">
                  <a:moveTo>
                    <a:pt x="45715" y="0"/>
                  </a:moveTo>
                  <a:lnTo>
                    <a:pt x="2714123" y="0"/>
                  </a:lnTo>
                  <a:cubicBezTo>
                    <a:pt x="2739370" y="0"/>
                    <a:pt x="2759838" y="20467"/>
                    <a:pt x="2759838" y="45715"/>
                  </a:cubicBezTo>
                  <a:lnTo>
                    <a:pt x="2759838" y="1182922"/>
                  </a:lnTo>
                  <a:cubicBezTo>
                    <a:pt x="2759838" y="1208170"/>
                    <a:pt x="2739370" y="1228637"/>
                    <a:pt x="2714123" y="1228637"/>
                  </a:cubicBezTo>
                  <a:lnTo>
                    <a:pt x="45715" y="1228637"/>
                  </a:lnTo>
                  <a:cubicBezTo>
                    <a:pt x="20467" y="1228637"/>
                    <a:pt x="0" y="1208170"/>
                    <a:pt x="0" y="1182922"/>
                  </a:cubicBezTo>
                  <a:lnTo>
                    <a:pt x="0" y="45715"/>
                  </a:lnTo>
                  <a:cubicBezTo>
                    <a:pt x="0" y="20467"/>
                    <a:pt x="20467" y="0"/>
                    <a:pt x="45715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759837" cy="1276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411212" y="6200861"/>
            <a:ext cx="8637000" cy="922001"/>
            <a:chOff x="0" y="0"/>
            <a:chExt cx="85855565" cy="91650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855566" cy="9165096"/>
            </a:xfrm>
            <a:custGeom>
              <a:avLst/>
              <a:gdLst/>
              <a:ahLst/>
              <a:cxnLst/>
              <a:rect r="r" b="b" t="t" l="l"/>
              <a:pathLst>
                <a:path h="9165096" w="85855566">
                  <a:moveTo>
                    <a:pt x="8555076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860296"/>
                  </a:lnTo>
                  <a:cubicBezTo>
                    <a:pt x="0" y="9029206"/>
                    <a:pt x="135890" y="9165096"/>
                    <a:pt x="304800" y="9165096"/>
                  </a:cubicBezTo>
                  <a:lnTo>
                    <a:pt x="85550766" y="9165096"/>
                  </a:lnTo>
                  <a:cubicBezTo>
                    <a:pt x="85719673" y="9165096"/>
                    <a:pt x="85855566" y="9029206"/>
                    <a:pt x="85855566" y="8860296"/>
                  </a:cubicBezTo>
                  <a:lnTo>
                    <a:pt x="85855566" y="304800"/>
                  </a:lnTo>
                  <a:cubicBezTo>
                    <a:pt x="85855566" y="135890"/>
                    <a:pt x="85719673" y="0"/>
                    <a:pt x="85550766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932911" y="7254614"/>
            <a:ext cx="8115300" cy="304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640×480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@ 30 fps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•gTT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 — text-to-speech MP3 synthesis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•pygame.mixer — non-blocking audio playback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•speech_recognition — Google STT voice cmds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•Priority queue — urgent alerts interrupt TTS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Mounted on tilt servo bracket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9411212" y="6465038"/>
            <a:ext cx="86370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Voic</a:t>
            </a: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13">
            <a:off x="-2352705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06345" y="1889809"/>
            <a:ext cx="9305910" cy="11875301"/>
            <a:chOff x="0" y="0"/>
            <a:chExt cx="12407880" cy="15833735"/>
          </a:xfrm>
        </p:grpSpPr>
        <p:sp>
          <p:nvSpPr>
            <p:cNvPr name="Freeform 5" id="5"/>
            <p:cNvSpPr/>
            <p:nvPr/>
          </p:nvSpPr>
          <p:spPr>
            <a:xfrm flipH="false" flipV="false" rot="-2454813">
              <a:off x="5274780" y="9421465"/>
              <a:ext cx="6273881" cy="4964208"/>
            </a:xfrm>
            <a:custGeom>
              <a:avLst/>
              <a:gdLst/>
              <a:ahLst/>
              <a:cxnLst/>
              <a:rect r="r" b="b" t="t" l="l"/>
              <a:pathLst>
                <a:path h="4964208" w="6273881">
                  <a:moveTo>
                    <a:pt x="0" y="0"/>
                  </a:moveTo>
                  <a:lnTo>
                    <a:pt x="6273881" y="0"/>
                  </a:lnTo>
                  <a:lnTo>
                    <a:pt x="6273881" y="4964208"/>
                  </a:lnTo>
                  <a:lnTo>
                    <a:pt x="0" y="4964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8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6" id="6"/>
            <p:cNvSpPr/>
            <p:nvPr/>
          </p:nvSpPr>
          <p:spPr>
            <a:xfrm>
              <a:off x="5942407" y="1577978"/>
              <a:ext cx="1249622" cy="1135732"/>
            </a:xfrm>
            <a:prstGeom prst="line">
              <a:avLst/>
            </a:prstGeom>
            <a:ln cap="flat" w="38100">
              <a:solidFill>
                <a:srgbClr val="3C5679">
                  <a:alpha val="60000"/>
                </a:srgbClr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6216756" y="8142931"/>
              <a:ext cx="729179" cy="983441"/>
            </a:xfrm>
            <a:prstGeom prst="line">
              <a:avLst/>
            </a:prstGeom>
            <a:ln cap="flat" w="38100">
              <a:solidFill>
                <a:srgbClr val="3C5679">
                  <a:alpha val="60000"/>
                </a:srgbClr>
              </a:solidFill>
              <a:prstDash val="sysDash"/>
              <a:headEnd type="none" len="sm" w="sm"/>
              <a:tailEnd type="none" len="sm" w="sm"/>
            </a:ln>
          </p:spPr>
        </p:sp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0">
              <a:off x="4894974" y="2336052"/>
              <a:ext cx="6655733" cy="6655733"/>
              <a:chOff x="0" y="0"/>
              <a:chExt cx="1708150" cy="170815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06883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6883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FBD6D0">
                  <a:alpha val="60000"/>
                </a:srgbClr>
              </a:solidFill>
            </p:spPr>
          </p:sp>
        </p:grpSp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4186462" y="0"/>
              <a:ext cx="2242106" cy="2242106"/>
              <a:chOff x="0" y="0"/>
              <a:chExt cx="14400530" cy="1440053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4399261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33A685">
                  <a:alpha val="60000"/>
                </a:srgbClr>
              </a:solidFill>
            </p:spPr>
          </p:sp>
        </p:grpSp>
        <p:grpSp>
          <p:nvGrpSpPr>
            <p:cNvPr name="Group 12" id="12"/>
            <p:cNvGrpSpPr>
              <a:grpSpLocks noChangeAspect="true"/>
            </p:cNvGrpSpPr>
            <p:nvPr/>
          </p:nvGrpSpPr>
          <p:grpSpPr>
            <a:xfrm rot="-5400000">
              <a:off x="4186462" y="9079738"/>
              <a:ext cx="2242106" cy="2242106"/>
              <a:chOff x="0" y="0"/>
              <a:chExt cx="14400530" cy="1440053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399261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33A685">
                  <a:alpha val="60000"/>
                </a:srgbClr>
              </a:solidFill>
            </p:spPr>
          </p:sp>
        </p:grpSp>
        <p:sp>
          <p:nvSpPr>
            <p:cNvPr name="AutoShape 14" id="14"/>
            <p:cNvSpPr/>
            <p:nvPr/>
          </p:nvSpPr>
          <p:spPr>
            <a:xfrm>
              <a:off x="4447393" y="5663918"/>
              <a:ext cx="447581" cy="0"/>
            </a:xfrm>
            <a:prstGeom prst="line">
              <a:avLst/>
            </a:prstGeom>
            <a:ln cap="flat" w="38100">
              <a:solidFill>
                <a:srgbClr val="3C5679">
                  <a:alpha val="60000"/>
                </a:srgbClr>
              </a:solidFill>
              <a:prstDash val="sysDash"/>
              <a:headEnd type="none" len="sm" w="sm"/>
              <a:tailEnd type="none" len="sm" w="sm"/>
            </a:ln>
          </p:spPr>
        </p:sp>
        <p:grpSp>
          <p:nvGrpSpPr>
            <p:cNvPr name="Group 15" id="15"/>
            <p:cNvGrpSpPr>
              <a:grpSpLocks noChangeAspect="true"/>
            </p:cNvGrpSpPr>
            <p:nvPr/>
          </p:nvGrpSpPr>
          <p:grpSpPr>
            <a:xfrm rot="-2700000">
              <a:off x="1802824" y="4542866"/>
              <a:ext cx="2242106" cy="2242106"/>
              <a:chOff x="0" y="0"/>
              <a:chExt cx="14400530" cy="1440053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399261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33A685">
                  <a:alpha val="60000"/>
                </a:srgbClr>
              </a:solidFill>
            </p:spPr>
          </p:sp>
        </p:grpSp>
        <p:sp>
          <p:nvSpPr>
            <p:cNvPr name="Freeform 17" id="17"/>
            <p:cNvSpPr/>
            <p:nvPr/>
          </p:nvSpPr>
          <p:spPr>
            <a:xfrm flipH="false" flipV="false" rot="3931759">
              <a:off x="865284" y="1273946"/>
              <a:ext cx="2265395" cy="3359330"/>
            </a:xfrm>
            <a:custGeom>
              <a:avLst/>
              <a:gdLst/>
              <a:ahLst/>
              <a:cxnLst/>
              <a:rect r="r" b="b" t="t" l="l"/>
              <a:pathLst>
                <a:path h="3359330" w="2265395">
                  <a:moveTo>
                    <a:pt x="0" y="0"/>
                  </a:moveTo>
                  <a:lnTo>
                    <a:pt x="2265394" y="0"/>
                  </a:lnTo>
                  <a:lnTo>
                    <a:pt x="2265394" y="3359331"/>
                  </a:lnTo>
                  <a:lnTo>
                    <a:pt x="0" y="33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12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3931759">
              <a:off x="865284" y="7915464"/>
              <a:ext cx="2265395" cy="3359330"/>
            </a:xfrm>
            <a:custGeom>
              <a:avLst/>
              <a:gdLst/>
              <a:ahLst/>
              <a:cxnLst/>
              <a:rect r="r" b="b" t="t" l="l"/>
              <a:pathLst>
                <a:path h="3359330" w="2265395">
                  <a:moveTo>
                    <a:pt x="0" y="0"/>
                  </a:moveTo>
                  <a:lnTo>
                    <a:pt x="2265394" y="0"/>
                  </a:lnTo>
                  <a:lnTo>
                    <a:pt x="2265394" y="3359331"/>
                  </a:lnTo>
                  <a:lnTo>
                    <a:pt x="0" y="33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12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19" id="19"/>
            <p:cNvGrpSpPr/>
            <p:nvPr/>
          </p:nvGrpSpPr>
          <p:grpSpPr>
            <a:xfrm rot="0">
              <a:off x="506920" y="1216125"/>
              <a:ext cx="2239855" cy="2239855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3A685">
                  <a:alpha val="60000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506920" y="7754454"/>
              <a:ext cx="2239855" cy="2239855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3A685">
                  <a:alpha val="60000"/>
                </a:srgbClr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</a:p>
            </p:txBody>
          </p:sp>
        </p:grpSp>
        <p:sp>
          <p:nvSpPr>
            <p:cNvPr name="AutoShape 25" id="25"/>
            <p:cNvSpPr/>
            <p:nvPr/>
          </p:nvSpPr>
          <p:spPr>
            <a:xfrm>
              <a:off x="2626939" y="2840627"/>
              <a:ext cx="2625181" cy="1324478"/>
            </a:xfrm>
            <a:prstGeom prst="line">
              <a:avLst/>
            </a:prstGeom>
            <a:ln cap="flat" w="38100">
              <a:solidFill>
                <a:srgbClr val="3C5679">
                  <a:alpha val="60000"/>
                </a:srgbClr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 flipV="true">
              <a:off x="2634058" y="7119825"/>
              <a:ext cx="2597577" cy="1264317"/>
            </a:xfrm>
            <a:prstGeom prst="line">
              <a:avLst/>
            </a:prstGeom>
            <a:ln cap="flat" w="38100">
              <a:solidFill>
                <a:srgbClr val="3C5679">
                  <a:alpha val="60000"/>
                </a:srgbClr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Freeform 27" id="27"/>
            <p:cNvSpPr/>
            <p:nvPr/>
          </p:nvSpPr>
          <p:spPr>
            <a:xfrm flipH="false" flipV="false" rot="3017615">
              <a:off x="5717857" y="8832982"/>
              <a:ext cx="3699803" cy="5486400"/>
            </a:xfrm>
            <a:custGeom>
              <a:avLst/>
              <a:gdLst/>
              <a:ahLst/>
              <a:cxnLst/>
              <a:rect r="r" b="b" t="t" l="l"/>
              <a:pathLst>
                <a:path h="5486400" w="3699803">
                  <a:moveTo>
                    <a:pt x="0" y="0"/>
                  </a:moveTo>
                  <a:lnTo>
                    <a:pt x="3699803" y="0"/>
                  </a:lnTo>
                  <a:lnTo>
                    <a:pt x="3699803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18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28" id="28"/>
            <p:cNvGrpSpPr/>
            <p:nvPr/>
          </p:nvGrpSpPr>
          <p:grpSpPr>
            <a:xfrm rot="0">
              <a:off x="731016" y="1440221"/>
              <a:ext cx="1791662" cy="1791662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5E5E2">
                  <a:alpha val="60000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964921" y="1915926"/>
              <a:ext cx="1323853" cy="948210"/>
            </a:xfrm>
            <a:custGeom>
              <a:avLst/>
              <a:gdLst/>
              <a:ahLst/>
              <a:cxnLst/>
              <a:rect r="r" b="b" t="t" l="l"/>
              <a:pathLst>
                <a:path h="948210" w="1323853">
                  <a:moveTo>
                    <a:pt x="0" y="0"/>
                  </a:moveTo>
                  <a:lnTo>
                    <a:pt x="1323853" y="0"/>
                  </a:lnTo>
                  <a:lnTo>
                    <a:pt x="1323853" y="948210"/>
                  </a:lnTo>
                  <a:lnTo>
                    <a:pt x="0" y="948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60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2" id="32"/>
            <p:cNvGrpSpPr/>
            <p:nvPr/>
          </p:nvGrpSpPr>
          <p:grpSpPr>
            <a:xfrm rot="0">
              <a:off x="2028045" y="4768087"/>
              <a:ext cx="1791662" cy="1791662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5E5E2">
                  <a:alpha val="60000"/>
                </a:srgbClr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731016" y="7978550"/>
              <a:ext cx="1791662" cy="1791662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5E5E2">
                  <a:alpha val="60000"/>
                </a:srgbClr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4425093" y="9304960"/>
              <a:ext cx="1791662" cy="1791662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5E5E2">
                  <a:alpha val="60000"/>
                </a:srgbClr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4447393" y="226890"/>
              <a:ext cx="1791662" cy="1791662"/>
              <a:chOff x="0" y="0"/>
              <a:chExt cx="812800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5E5E2">
                  <a:alpha val="60000"/>
                </a:srgbClr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</a:p>
            </p:txBody>
          </p:sp>
        </p:grpSp>
        <p:sp>
          <p:nvSpPr>
            <p:cNvPr name="Freeform 44" id="44"/>
            <p:cNvSpPr/>
            <p:nvPr/>
          </p:nvSpPr>
          <p:spPr>
            <a:xfrm flipH="false" flipV="false" rot="0">
              <a:off x="964921" y="8172997"/>
              <a:ext cx="1338468" cy="1338468"/>
            </a:xfrm>
            <a:custGeom>
              <a:avLst/>
              <a:gdLst/>
              <a:ahLst/>
              <a:cxnLst/>
              <a:rect r="r" b="b" t="t" l="l"/>
              <a:pathLst>
                <a:path h="1338468" w="1338468">
                  <a:moveTo>
                    <a:pt x="0" y="0"/>
                  </a:moveTo>
                  <a:lnTo>
                    <a:pt x="1338469" y="0"/>
                  </a:lnTo>
                  <a:lnTo>
                    <a:pt x="1338469" y="1338468"/>
                  </a:lnTo>
                  <a:lnTo>
                    <a:pt x="0" y="1338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alphaModFix amt="60000"/>
              </a:blip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372819" y="5233706"/>
              <a:ext cx="1102116" cy="965854"/>
            </a:xfrm>
            <a:custGeom>
              <a:avLst/>
              <a:gdLst/>
              <a:ahLst/>
              <a:cxnLst/>
              <a:rect r="r" b="b" t="t" l="l"/>
              <a:pathLst>
                <a:path h="965854" w="1102116">
                  <a:moveTo>
                    <a:pt x="0" y="0"/>
                  </a:moveTo>
                  <a:lnTo>
                    <a:pt x="1102115" y="0"/>
                  </a:lnTo>
                  <a:lnTo>
                    <a:pt x="1102115" y="965855"/>
                  </a:lnTo>
                  <a:lnTo>
                    <a:pt x="0" y="965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6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4680019" y="9511465"/>
              <a:ext cx="1326410" cy="1326410"/>
            </a:xfrm>
            <a:custGeom>
              <a:avLst/>
              <a:gdLst/>
              <a:ahLst/>
              <a:cxnLst/>
              <a:rect r="r" b="b" t="t" l="l"/>
              <a:pathLst>
                <a:path h="1326410" w="1326410">
                  <a:moveTo>
                    <a:pt x="0" y="0"/>
                  </a:moveTo>
                  <a:lnTo>
                    <a:pt x="1326411" y="0"/>
                  </a:lnTo>
                  <a:lnTo>
                    <a:pt x="1326411" y="1326411"/>
                  </a:lnTo>
                  <a:lnTo>
                    <a:pt x="0" y="1326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60000"/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-5400000">
              <a:off x="5118184" y="361077"/>
              <a:ext cx="475481" cy="1497579"/>
            </a:xfrm>
            <a:custGeom>
              <a:avLst/>
              <a:gdLst/>
              <a:ahLst/>
              <a:cxnLst/>
              <a:rect r="r" b="b" t="t" l="l"/>
              <a:pathLst>
                <a:path h="1497579" w="475481">
                  <a:moveTo>
                    <a:pt x="0" y="0"/>
                  </a:moveTo>
                  <a:lnTo>
                    <a:pt x="475481" y="0"/>
                  </a:lnTo>
                  <a:lnTo>
                    <a:pt x="475481" y="1497579"/>
                  </a:lnTo>
                  <a:lnTo>
                    <a:pt x="0" y="14975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60000"/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692728" y="2264690"/>
            <a:ext cx="10548536" cy="7724065"/>
          </a:xfrm>
          <a:custGeom>
            <a:avLst/>
            <a:gdLst/>
            <a:ahLst/>
            <a:cxnLst/>
            <a:rect r="r" b="b" t="t" l="l"/>
            <a:pathLst>
              <a:path h="7724065" w="10548536">
                <a:moveTo>
                  <a:pt x="0" y="0"/>
                </a:moveTo>
                <a:lnTo>
                  <a:pt x="10548536" y="0"/>
                </a:lnTo>
                <a:lnTo>
                  <a:pt x="10548536" y="7724064"/>
                </a:lnTo>
                <a:lnTo>
                  <a:pt x="0" y="77240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692728" y="1165909"/>
            <a:ext cx="11227834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HARDWARE ASSEMBLY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807264" y="9258300"/>
            <a:ext cx="1835964" cy="1335664"/>
          </a:xfrm>
          <a:custGeom>
            <a:avLst/>
            <a:gdLst/>
            <a:ahLst/>
            <a:cxnLst/>
            <a:rect r="r" b="b" t="t" l="l"/>
            <a:pathLst>
              <a:path h="1335664" w="1835964">
                <a:moveTo>
                  <a:pt x="0" y="0"/>
                </a:moveTo>
                <a:lnTo>
                  <a:pt x="1835964" y="0"/>
                </a:lnTo>
                <a:lnTo>
                  <a:pt x="1835964" y="1335664"/>
                </a:lnTo>
                <a:lnTo>
                  <a:pt x="0" y="13356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647278" y="-618490"/>
            <a:ext cx="1281444" cy="1853807"/>
          </a:xfrm>
          <a:custGeom>
            <a:avLst/>
            <a:gdLst/>
            <a:ahLst/>
            <a:cxnLst/>
            <a:rect r="r" b="b" t="t" l="l"/>
            <a:pathLst>
              <a:path h="1853807" w="1281444">
                <a:moveTo>
                  <a:pt x="0" y="0"/>
                </a:moveTo>
                <a:lnTo>
                  <a:pt x="1281444" y="0"/>
                </a:lnTo>
                <a:lnTo>
                  <a:pt x="1281444" y="1853807"/>
                </a:lnTo>
                <a:lnTo>
                  <a:pt x="0" y="18538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2057400"/>
            <a:ext cx="16618578" cy="7868732"/>
            <a:chOff x="0" y="0"/>
            <a:chExt cx="4376909" cy="20724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76910" cy="2072423"/>
            </a:xfrm>
            <a:custGeom>
              <a:avLst/>
              <a:gdLst/>
              <a:ahLst/>
              <a:cxnLst/>
              <a:rect r="r" b="b" t="t" l="l"/>
              <a:pathLst>
                <a:path h="2072423" w="4376910">
                  <a:moveTo>
                    <a:pt x="0" y="0"/>
                  </a:moveTo>
                  <a:lnTo>
                    <a:pt x="4376910" y="0"/>
                  </a:lnTo>
                  <a:lnTo>
                    <a:pt x="4376910" y="2072423"/>
                  </a:lnTo>
                  <a:lnTo>
                    <a:pt x="0" y="2072423"/>
                  </a:lnTo>
                  <a:close/>
                </a:path>
              </a:pathLst>
            </a:custGeom>
            <a:solidFill>
              <a:srgbClr val="33A685">
                <a:alpha val="4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76909" cy="2110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040782" y="2391316"/>
            <a:ext cx="12206435" cy="7200900"/>
          </a:xfrm>
          <a:custGeom>
            <a:avLst/>
            <a:gdLst/>
            <a:ahLst/>
            <a:cxnLst/>
            <a:rect r="r" b="b" t="t" l="l"/>
            <a:pathLst>
              <a:path h="7200900" w="12206435">
                <a:moveTo>
                  <a:pt x="0" y="0"/>
                </a:moveTo>
                <a:lnTo>
                  <a:pt x="12206436" y="0"/>
                </a:lnTo>
                <a:lnTo>
                  <a:pt x="12206436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491" r="0" b="-14175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63646" y="1149592"/>
            <a:ext cx="10037241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CK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807264" y="9258300"/>
            <a:ext cx="1835964" cy="1335664"/>
          </a:xfrm>
          <a:custGeom>
            <a:avLst/>
            <a:gdLst/>
            <a:ahLst/>
            <a:cxnLst/>
            <a:rect r="r" b="b" t="t" l="l"/>
            <a:pathLst>
              <a:path h="1335664" w="1835964">
                <a:moveTo>
                  <a:pt x="0" y="0"/>
                </a:moveTo>
                <a:lnTo>
                  <a:pt x="1835964" y="0"/>
                </a:lnTo>
                <a:lnTo>
                  <a:pt x="1835964" y="1335664"/>
                </a:lnTo>
                <a:lnTo>
                  <a:pt x="0" y="13356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647278" y="-618490"/>
            <a:ext cx="1281444" cy="1853807"/>
          </a:xfrm>
          <a:custGeom>
            <a:avLst/>
            <a:gdLst/>
            <a:ahLst/>
            <a:cxnLst/>
            <a:rect r="r" b="b" t="t" l="l"/>
            <a:pathLst>
              <a:path h="1853807" w="1281444">
                <a:moveTo>
                  <a:pt x="0" y="0"/>
                </a:moveTo>
                <a:lnTo>
                  <a:pt x="1281444" y="0"/>
                </a:lnTo>
                <a:lnTo>
                  <a:pt x="1281444" y="1853807"/>
                </a:lnTo>
                <a:lnTo>
                  <a:pt x="0" y="18538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2135519"/>
            <a:ext cx="16618578" cy="7607201"/>
            <a:chOff x="0" y="0"/>
            <a:chExt cx="4376909" cy="20035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76910" cy="2003543"/>
            </a:xfrm>
            <a:custGeom>
              <a:avLst/>
              <a:gdLst/>
              <a:ahLst/>
              <a:cxnLst/>
              <a:rect r="r" b="b" t="t" l="l"/>
              <a:pathLst>
                <a:path h="2003543" w="4376910">
                  <a:moveTo>
                    <a:pt x="0" y="0"/>
                  </a:moveTo>
                  <a:lnTo>
                    <a:pt x="4376910" y="0"/>
                  </a:lnTo>
                  <a:lnTo>
                    <a:pt x="4376910" y="2003543"/>
                  </a:lnTo>
                  <a:lnTo>
                    <a:pt x="0" y="2003543"/>
                  </a:lnTo>
                  <a:close/>
                </a:path>
              </a:pathLst>
            </a:custGeom>
            <a:solidFill>
              <a:srgbClr val="33A685">
                <a:alpha val="4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76909" cy="2041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74979" indent="-237490" lvl="1">
                <a:lnSpc>
                  <a:spcPts val="3079"/>
                </a:lnSpc>
                <a:buFont typeface="Arial"/>
                <a:buChar char="•"/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393258" y="2369072"/>
            <a:ext cx="7501485" cy="7140095"/>
          </a:xfrm>
          <a:custGeom>
            <a:avLst/>
            <a:gdLst/>
            <a:ahLst/>
            <a:cxnLst/>
            <a:rect r="r" b="b" t="t" l="l"/>
            <a:pathLst>
              <a:path h="7140095" w="7501485">
                <a:moveTo>
                  <a:pt x="0" y="0"/>
                </a:moveTo>
                <a:lnTo>
                  <a:pt x="7501484" y="0"/>
                </a:lnTo>
                <a:lnTo>
                  <a:pt x="7501484" y="7140095"/>
                </a:lnTo>
                <a:lnTo>
                  <a:pt x="0" y="71400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4942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63646" y="1149592"/>
            <a:ext cx="10037241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 CHART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95689" y="1149592"/>
            <a:ext cx="16320576" cy="8591429"/>
            <a:chOff x="0" y="0"/>
            <a:chExt cx="17493906" cy="92090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93906" cy="9209089"/>
            </a:xfrm>
            <a:custGeom>
              <a:avLst/>
              <a:gdLst/>
              <a:ahLst/>
              <a:cxnLst/>
              <a:rect r="r" b="b" t="t" l="l"/>
              <a:pathLst>
                <a:path h="9209089" w="17493906">
                  <a:moveTo>
                    <a:pt x="1718910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904289"/>
                  </a:lnTo>
                  <a:cubicBezTo>
                    <a:pt x="0" y="9073199"/>
                    <a:pt x="135890" y="9209089"/>
                    <a:pt x="304800" y="9209089"/>
                  </a:cubicBezTo>
                  <a:lnTo>
                    <a:pt x="17189106" y="9209089"/>
                  </a:lnTo>
                  <a:cubicBezTo>
                    <a:pt x="17358015" y="9209089"/>
                    <a:pt x="17493906" y="9073199"/>
                    <a:pt x="17493906" y="8904289"/>
                  </a:cubicBezTo>
                  <a:lnTo>
                    <a:pt x="17493906" y="304800"/>
                  </a:lnTo>
                  <a:cubicBezTo>
                    <a:pt x="17493906" y="135890"/>
                    <a:pt x="17358015" y="0"/>
                    <a:pt x="17189106" y="0"/>
                  </a:cubicBezTo>
                  <a:close/>
                </a:path>
              </a:pathLst>
            </a:custGeom>
            <a:solidFill>
              <a:srgbClr val="33A685">
                <a:alpha val="23922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07264" y="9258300"/>
            <a:ext cx="1835964" cy="1335664"/>
          </a:xfrm>
          <a:custGeom>
            <a:avLst/>
            <a:gdLst/>
            <a:ahLst/>
            <a:cxnLst/>
            <a:rect r="r" b="b" t="t" l="l"/>
            <a:pathLst>
              <a:path h="1335664" w="1835964">
                <a:moveTo>
                  <a:pt x="0" y="0"/>
                </a:moveTo>
                <a:lnTo>
                  <a:pt x="1835964" y="0"/>
                </a:lnTo>
                <a:lnTo>
                  <a:pt x="1835964" y="1335664"/>
                </a:lnTo>
                <a:lnTo>
                  <a:pt x="0" y="13356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647278" y="-618490"/>
            <a:ext cx="1281444" cy="1853807"/>
          </a:xfrm>
          <a:custGeom>
            <a:avLst/>
            <a:gdLst/>
            <a:ahLst/>
            <a:cxnLst/>
            <a:rect r="r" b="b" t="t" l="l"/>
            <a:pathLst>
              <a:path h="1853807" w="1281444">
                <a:moveTo>
                  <a:pt x="0" y="0"/>
                </a:moveTo>
                <a:lnTo>
                  <a:pt x="1281444" y="0"/>
                </a:lnTo>
                <a:lnTo>
                  <a:pt x="1281444" y="1853807"/>
                </a:lnTo>
                <a:lnTo>
                  <a:pt x="0" y="18538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314450" y="345047"/>
            <a:ext cx="10037241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266824"/>
            <a:ext cx="15745283" cy="895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FaceTrack operates as a continuous closed-loop pipeline running at 30 fps across three parallel threads:</a:t>
            </a:r>
          </a:p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Thread 1 captures frames from the USB webcam, flips them, draws annotations, and streams MJPEG to the browser dashboard.</a:t>
            </a:r>
          </a:p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Thread 2 runs InsightFace detection at ~12 fps, assigns stable track IDs using IoU matching, and updates the servo target centroid.</a:t>
            </a:r>
          </a:p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Thread 3 compares ArcFace 512-d embeddings against the SQLite database via cosine similarity, logs attendance, and classifies emotion using DeepFace.</a:t>
            </a:r>
          </a:p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The P-controller computes error = face_cx − 320, applies EMA smoothing, and sends new_angle += Kp × error as a "pan, tilt" serial command to the Arduino Uno at 115,200 baud. The Arduino calls Servo.write() on PWM pins 9 and 10, physically recentring the camera. As the face reaches the frame centre, error → 0 and the servo holds still — completing the feedback loop.</a:t>
            </a:r>
          </a:p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Unknown faces trigger an instant TTS alert and web badge. Recognised persons are auto-logged to SQLite with timestamp, emotion, and confidence score.</a:t>
            </a:r>
          </a:p>
          <a:p>
            <a:pPr algn="l">
              <a:lnSpc>
                <a:spcPts val="449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13">
            <a:off x="-2352705" y="-20299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2728" y="1165909"/>
            <a:ext cx="11227834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73650" y="6200861"/>
            <a:ext cx="17338913" cy="3845058"/>
            <a:chOff x="0" y="0"/>
            <a:chExt cx="23118551" cy="512674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516000" cy="5126744"/>
              <a:chOff x="0" y="0"/>
              <a:chExt cx="2759837" cy="122863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759838" cy="1228637"/>
              </a:xfrm>
              <a:custGeom>
                <a:avLst/>
                <a:gdLst/>
                <a:ahLst/>
                <a:cxnLst/>
                <a:rect r="r" b="b" t="t" l="l"/>
                <a:pathLst>
                  <a:path h="1228637" w="2759838">
                    <a:moveTo>
                      <a:pt x="45715" y="0"/>
                    </a:moveTo>
                    <a:lnTo>
                      <a:pt x="2714123" y="0"/>
                    </a:lnTo>
                    <a:cubicBezTo>
                      <a:pt x="2739370" y="0"/>
                      <a:pt x="2759838" y="20467"/>
                      <a:pt x="2759838" y="45715"/>
                    </a:cubicBezTo>
                    <a:lnTo>
                      <a:pt x="2759838" y="1182922"/>
                    </a:lnTo>
                    <a:cubicBezTo>
                      <a:pt x="2759838" y="1208170"/>
                      <a:pt x="2739370" y="1228637"/>
                      <a:pt x="2714123" y="1228637"/>
                    </a:cubicBezTo>
                    <a:lnTo>
                      <a:pt x="45715" y="1228637"/>
                    </a:lnTo>
                    <a:cubicBezTo>
                      <a:pt x="20467" y="1228637"/>
                      <a:pt x="0" y="1208170"/>
                      <a:pt x="0" y="1182922"/>
                    </a:cubicBezTo>
                    <a:lnTo>
                      <a:pt x="0" y="45715"/>
                    </a:lnTo>
                    <a:cubicBezTo>
                      <a:pt x="0" y="20467"/>
                      <a:pt x="20467" y="0"/>
                      <a:pt x="45715" y="0"/>
                    </a:cubicBezTo>
                    <a:close/>
                  </a:path>
                </a:pathLst>
              </a:custGeom>
              <a:solidFill>
                <a:srgbClr val="A6D1B7">
                  <a:alpha val="49804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759837" cy="12762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11516000" cy="1229335"/>
              <a:chOff x="0" y="0"/>
              <a:chExt cx="85855565" cy="916509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5855566" cy="9165096"/>
              </a:xfrm>
              <a:custGeom>
                <a:avLst/>
                <a:gdLst/>
                <a:ahLst/>
                <a:cxnLst/>
                <a:rect r="r" b="b" t="t" l="l"/>
                <a:pathLst>
                  <a:path h="9165096" w="85855566">
                    <a:moveTo>
                      <a:pt x="85550766" y="0"/>
                    </a:moveTo>
                    <a:lnTo>
                      <a:pt x="304800" y="0"/>
                    </a:lnTo>
                    <a:cubicBezTo>
                      <a:pt x="135890" y="0"/>
                      <a:pt x="0" y="135890"/>
                      <a:pt x="0" y="304800"/>
                    </a:cubicBezTo>
                    <a:lnTo>
                      <a:pt x="0" y="8860296"/>
                    </a:lnTo>
                    <a:cubicBezTo>
                      <a:pt x="0" y="9029206"/>
                      <a:pt x="135890" y="9165096"/>
                      <a:pt x="304800" y="9165096"/>
                    </a:cubicBezTo>
                    <a:lnTo>
                      <a:pt x="85550766" y="9165096"/>
                    </a:lnTo>
                    <a:cubicBezTo>
                      <a:pt x="85719673" y="9165096"/>
                      <a:pt x="85855566" y="9029206"/>
                      <a:pt x="85855566" y="8860296"/>
                    </a:cubicBezTo>
                    <a:lnTo>
                      <a:pt x="85855566" y="304800"/>
                    </a:lnTo>
                    <a:cubicBezTo>
                      <a:pt x="85855566" y="135890"/>
                      <a:pt x="85719673" y="0"/>
                      <a:pt x="85550766" y="0"/>
                    </a:cubicBezTo>
                    <a:close/>
                  </a:path>
                </a:pathLst>
              </a:custGeom>
              <a:solidFill>
                <a:srgbClr val="010440"/>
              </a:solidFill>
            </p:spPr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2518336" y="25391"/>
              <a:ext cx="10600214" cy="5101353"/>
            </a:xfrm>
            <a:custGeom>
              <a:avLst/>
              <a:gdLst/>
              <a:ahLst/>
              <a:cxnLst/>
              <a:rect r="r" b="b" t="t" l="l"/>
              <a:pathLst>
                <a:path h="5101353" w="10600214">
                  <a:moveTo>
                    <a:pt x="0" y="0"/>
                  </a:moveTo>
                  <a:lnTo>
                    <a:pt x="10600215" y="0"/>
                  </a:lnTo>
                  <a:lnTo>
                    <a:pt x="10600215" y="5101353"/>
                  </a:lnTo>
                  <a:lnTo>
                    <a:pt x="0" y="5101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695600" y="1417704"/>
              <a:ext cx="10820400" cy="2874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Peak r</a:t>
              </a:r>
              <a:r>
                <a:rPr lang="en-US" sz="24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ecognition performance: Akshat 79%, Gayatri 83% — both under frontal lighting. Session duration 1093 s (≈18 min) logged without identity dropout. Servo tracking dot visible at face centre confirming active P-controller operation.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68111"/>
              <a:ext cx="11516000" cy="1343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b="true" sz="29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Dual Known Subjects (Best Accuracy)</a:t>
              </a:r>
            </a:p>
            <a:p>
              <a:pPr algn="l">
                <a:lnSpc>
                  <a:spcPts val="41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73650" y="2105458"/>
            <a:ext cx="8637000" cy="3845058"/>
            <a:chOff x="0" y="0"/>
            <a:chExt cx="2759837" cy="12286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59838" cy="1228637"/>
            </a:xfrm>
            <a:custGeom>
              <a:avLst/>
              <a:gdLst/>
              <a:ahLst/>
              <a:cxnLst/>
              <a:rect r="r" b="b" t="t" l="l"/>
              <a:pathLst>
                <a:path h="1228637" w="2759838">
                  <a:moveTo>
                    <a:pt x="45715" y="0"/>
                  </a:moveTo>
                  <a:lnTo>
                    <a:pt x="2714123" y="0"/>
                  </a:lnTo>
                  <a:cubicBezTo>
                    <a:pt x="2739370" y="0"/>
                    <a:pt x="2759838" y="20467"/>
                    <a:pt x="2759838" y="45715"/>
                  </a:cubicBezTo>
                  <a:lnTo>
                    <a:pt x="2759838" y="1182922"/>
                  </a:lnTo>
                  <a:cubicBezTo>
                    <a:pt x="2759838" y="1208170"/>
                    <a:pt x="2739370" y="1228637"/>
                    <a:pt x="2714123" y="1228637"/>
                  </a:cubicBezTo>
                  <a:lnTo>
                    <a:pt x="45715" y="1228637"/>
                  </a:lnTo>
                  <a:cubicBezTo>
                    <a:pt x="20467" y="1228637"/>
                    <a:pt x="0" y="1208170"/>
                    <a:pt x="0" y="1182922"/>
                  </a:cubicBezTo>
                  <a:lnTo>
                    <a:pt x="0" y="45715"/>
                  </a:lnTo>
                  <a:cubicBezTo>
                    <a:pt x="0" y="20467"/>
                    <a:pt x="20467" y="0"/>
                    <a:pt x="45715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759837" cy="1276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73650" y="2105458"/>
            <a:ext cx="8637000" cy="922001"/>
            <a:chOff x="0" y="0"/>
            <a:chExt cx="85855565" cy="91650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855566" cy="9165096"/>
            </a:xfrm>
            <a:custGeom>
              <a:avLst/>
              <a:gdLst/>
              <a:ahLst/>
              <a:cxnLst/>
              <a:rect r="r" b="b" t="t" l="l"/>
              <a:pathLst>
                <a:path h="9165096" w="85855566">
                  <a:moveTo>
                    <a:pt x="8555076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860296"/>
                  </a:lnTo>
                  <a:cubicBezTo>
                    <a:pt x="0" y="9029206"/>
                    <a:pt x="135890" y="9165096"/>
                    <a:pt x="304800" y="9165096"/>
                  </a:cubicBezTo>
                  <a:lnTo>
                    <a:pt x="85550766" y="9165096"/>
                  </a:lnTo>
                  <a:cubicBezTo>
                    <a:pt x="85719673" y="9165096"/>
                    <a:pt x="85855566" y="9029206"/>
                    <a:pt x="85855566" y="8860296"/>
                  </a:cubicBezTo>
                  <a:lnTo>
                    <a:pt x="85855566" y="304800"/>
                  </a:lnTo>
                  <a:cubicBezTo>
                    <a:pt x="85855566" y="135890"/>
                    <a:pt x="85719673" y="0"/>
                    <a:pt x="85550766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9792127" y="2105458"/>
            <a:ext cx="7907575" cy="3845058"/>
          </a:xfrm>
          <a:custGeom>
            <a:avLst/>
            <a:gdLst/>
            <a:ahLst/>
            <a:cxnLst/>
            <a:rect r="r" b="b" t="t" l="l"/>
            <a:pathLst>
              <a:path h="3845058" w="7907575">
                <a:moveTo>
                  <a:pt x="0" y="0"/>
                </a:moveTo>
                <a:lnTo>
                  <a:pt x="7907575" y="0"/>
                </a:lnTo>
                <a:lnTo>
                  <a:pt x="7907575" y="3845058"/>
                </a:lnTo>
                <a:lnTo>
                  <a:pt x="0" y="38450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95350" y="3159211"/>
            <a:ext cx="8115300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Akshat (72%, y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ellow) identified among two unregistered subjects — Unknown #1 (red) and Unknown (orange, primary). UNKNOWN cards show 0 visits and no timestamps, confirming zero false-positive assignments. Dashboard accessed remotely from 10.187.95.217:5001.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3650" y="2369635"/>
            <a:ext cx="86370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with Unknown Alert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13">
            <a:off x="-2352705" y="-20299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2728" y="1165909"/>
            <a:ext cx="11227834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73650" y="6200861"/>
            <a:ext cx="17069519" cy="3886927"/>
            <a:chOff x="0" y="0"/>
            <a:chExt cx="22759359" cy="518257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641398" cy="5182570"/>
              <a:chOff x="0" y="0"/>
              <a:chExt cx="2759837" cy="122863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759838" cy="1228637"/>
              </a:xfrm>
              <a:custGeom>
                <a:avLst/>
                <a:gdLst/>
                <a:ahLst/>
                <a:cxnLst/>
                <a:rect r="r" b="b" t="t" l="l"/>
                <a:pathLst>
                  <a:path h="1228637" w="2759838">
                    <a:moveTo>
                      <a:pt x="45715" y="0"/>
                    </a:moveTo>
                    <a:lnTo>
                      <a:pt x="2714123" y="0"/>
                    </a:lnTo>
                    <a:cubicBezTo>
                      <a:pt x="2739370" y="0"/>
                      <a:pt x="2759838" y="20467"/>
                      <a:pt x="2759838" y="45715"/>
                    </a:cubicBezTo>
                    <a:lnTo>
                      <a:pt x="2759838" y="1182922"/>
                    </a:lnTo>
                    <a:cubicBezTo>
                      <a:pt x="2759838" y="1208170"/>
                      <a:pt x="2739370" y="1228637"/>
                      <a:pt x="2714123" y="1228637"/>
                    </a:cubicBezTo>
                    <a:lnTo>
                      <a:pt x="45715" y="1228637"/>
                    </a:lnTo>
                    <a:cubicBezTo>
                      <a:pt x="20467" y="1228637"/>
                      <a:pt x="0" y="1208170"/>
                      <a:pt x="0" y="1182922"/>
                    </a:cubicBezTo>
                    <a:lnTo>
                      <a:pt x="0" y="45715"/>
                    </a:lnTo>
                    <a:cubicBezTo>
                      <a:pt x="0" y="20467"/>
                      <a:pt x="20467" y="0"/>
                      <a:pt x="45715" y="0"/>
                    </a:cubicBezTo>
                    <a:close/>
                  </a:path>
                </a:pathLst>
              </a:custGeom>
              <a:solidFill>
                <a:srgbClr val="A6D1B7">
                  <a:alpha val="49804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759837" cy="12762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11641398" cy="1242721"/>
              <a:chOff x="0" y="0"/>
              <a:chExt cx="85855565" cy="916509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5855566" cy="9165096"/>
              </a:xfrm>
              <a:custGeom>
                <a:avLst/>
                <a:gdLst/>
                <a:ahLst/>
                <a:cxnLst/>
                <a:rect r="r" b="b" t="t" l="l"/>
                <a:pathLst>
                  <a:path h="9165096" w="85855566">
                    <a:moveTo>
                      <a:pt x="85550766" y="0"/>
                    </a:moveTo>
                    <a:lnTo>
                      <a:pt x="304800" y="0"/>
                    </a:lnTo>
                    <a:cubicBezTo>
                      <a:pt x="135890" y="0"/>
                      <a:pt x="0" y="135890"/>
                      <a:pt x="0" y="304800"/>
                    </a:cubicBezTo>
                    <a:lnTo>
                      <a:pt x="0" y="8860296"/>
                    </a:lnTo>
                    <a:cubicBezTo>
                      <a:pt x="0" y="9029206"/>
                      <a:pt x="135890" y="9165096"/>
                      <a:pt x="304800" y="9165096"/>
                    </a:cubicBezTo>
                    <a:lnTo>
                      <a:pt x="85550766" y="9165096"/>
                    </a:lnTo>
                    <a:cubicBezTo>
                      <a:pt x="85719673" y="9165096"/>
                      <a:pt x="85855566" y="9029206"/>
                      <a:pt x="85855566" y="8860296"/>
                    </a:cubicBezTo>
                    <a:lnTo>
                      <a:pt x="85855566" y="304800"/>
                    </a:lnTo>
                    <a:cubicBezTo>
                      <a:pt x="85855566" y="135890"/>
                      <a:pt x="85719673" y="0"/>
                      <a:pt x="85550766" y="0"/>
                    </a:cubicBezTo>
                    <a:close/>
                  </a:path>
                </a:pathLst>
              </a:custGeom>
              <a:solidFill>
                <a:srgbClr val="010440"/>
              </a:solidFill>
            </p:spPr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2403766" y="63873"/>
              <a:ext cx="10355592" cy="5054824"/>
            </a:xfrm>
            <a:custGeom>
              <a:avLst/>
              <a:gdLst/>
              <a:ahLst/>
              <a:cxnLst/>
              <a:rect r="r" b="b" t="t" l="l"/>
              <a:pathLst>
                <a:path h="5054824" w="10355592">
                  <a:moveTo>
                    <a:pt x="0" y="0"/>
                  </a:moveTo>
                  <a:lnTo>
                    <a:pt x="10355593" y="0"/>
                  </a:lnTo>
                  <a:lnTo>
                    <a:pt x="10355593" y="5054824"/>
                  </a:lnTo>
                  <a:lnTo>
                    <a:pt x="0" y="505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703174" y="1424031"/>
              <a:ext cx="10938224" cy="2914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38"/>
                </a:lnSpc>
              </a:pPr>
              <a:r>
                <a:rPr lang="en-US" sz="2527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Most d</a:t>
              </a:r>
              <a:r>
                <a:rPr lang="en-US" sz="2527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emanding test: 4 simultaneous faces. Akshat (66%) labelled PRIMARY; Unknown #1, #2, #3 assigned red boxes. Emotion HAPPY detected. Attendance auto-logged: Main Entrance · 60 s. Zero false identities.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63113"/>
              <a:ext cx="11641398" cy="66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54750" indent="-327375" lvl="1">
                <a:lnSpc>
                  <a:spcPts val="4245"/>
                </a:lnSpc>
                <a:buFont typeface="Arial"/>
                <a:buChar char="•"/>
              </a:pPr>
              <a:r>
                <a:rPr lang="en-US" b="true" sz="3032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Crowd Scene (4 Faces)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73650" y="2158366"/>
            <a:ext cx="8637000" cy="3845058"/>
            <a:chOff x="0" y="0"/>
            <a:chExt cx="2759837" cy="12286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59838" cy="1228637"/>
            </a:xfrm>
            <a:custGeom>
              <a:avLst/>
              <a:gdLst/>
              <a:ahLst/>
              <a:cxnLst/>
              <a:rect r="r" b="b" t="t" l="l"/>
              <a:pathLst>
                <a:path h="1228637" w="2759838">
                  <a:moveTo>
                    <a:pt x="45715" y="0"/>
                  </a:moveTo>
                  <a:lnTo>
                    <a:pt x="2714123" y="0"/>
                  </a:lnTo>
                  <a:cubicBezTo>
                    <a:pt x="2739370" y="0"/>
                    <a:pt x="2759838" y="20467"/>
                    <a:pt x="2759838" y="45715"/>
                  </a:cubicBezTo>
                  <a:lnTo>
                    <a:pt x="2759838" y="1182922"/>
                  </a:lnTo>
                  <a:cubicBezTo>
                    <a:pt x="2759838" y="1208170"/>
                    <a:pt x="2739370" y="1228637"/>
                    <a:pt x="2714123" y="1228637"/>
                  </a:cubicBezTo>
                  <a:lnTo>
                    <a:pt x="45715" y="1228637"/>
                  </a:lnTo>
                  <a:cubicBezTo>
                    <a:pt x="20467" y="1228637"/>
                    <a:pt x="0" y="1208170"/>
                    <a:pt x="0" y="1182922"/>
                  </a:cubicBezTo>
                  <a:lnTo>
                    <a:pt x="0" y="45715"/>
                  </a:lnTo>
                  <a:cubicBezTo>
                    <a:pt x="0" y="20467"/>
                    <a:pt x="20467" y="0"/>
                    <a:pt x="45715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759837" cy="1276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73650" y="2158366"/>
            <a:ext cx="8637000" cy="922001"/>
            <a:chOff x="0" y="0"/>
            <a:chExt cx="85855565" cy="91650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855566" cy="9165096"/>
            </a:xfrm>
            <a:custGeom>
              <a:avLst/>
              <a:gdLst/>
              <a:ahLst/>
              <a:cxnLst/>
              <a:rect r="r" b="b" t="t" l="l"/>
              <a:pathLst>
                <a:path h="9165096" w="85855566">
                  <a:moveTo>
                    <a:pt x="8555076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860296"/>
                  </a:lnTo>
                  <a:cubicBezTo>
                    <a:pt x="0" y="9029206"/>
                    <a:pt x="135890" y="9165096"/>
                    <a:pt x="304800" y="9165096"/>
                  </a:cubicBezTo>
                  <a:lnTo>
                    <a:pt x="85550766" y="9165096"/>
                  </a:lnTo>
                  <a:cubicBezTo>
                    <a:pt x="85719673" y="9165096"/>
                    <a:pt x="85855566" y="9029206"/>
                    <a:pt x="85855566" y="8860296"/>
                  </a:cubicBezTo>
                  <a:lnTo>
                    <a:pt x="85855566" y="304800"/>
                  </a:lnTo>
                  <a:cubicBezTo>
                    <a:pt x="85855566" y="135890"/>
                    <a:pt x="85719673" y="0"/>
                    <a:pt x="85550766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9590952" y="2158366"/>
            <a:ext cx="7852217" cy="3808325"/>
          </a:xfrm>
          <a:custGeom>
            <a:avLst/>
            <a:gdLst/>
            <a:ahLst/>
            <a:cxnLst/>
            <a:rect r="r" b="b" t="t" l="l"/>
            <a:pathLst>
              <a:path h="3808325" w="7852217">
                <a:moveTo>
                  <a:pt x="0" y="0"/>
                </a:moveTo>
                <a:lnTo>
                  <a:pt x="7852217" y="0"/>
                </a:lnTo>
                <a:lnTo>
                  <a:pt x="7852217" y="3808325"/>
                </a:lnTo>
                <a:lnTo>
                  <a:pt x="0" y="3808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95350" y="3212119"/>
            <a:ext cx="8115300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ree simultaneous detections: Akshat B Gupta (61%, yellow), Unknown #2 (red), Gayatri (70%, yellow). Emotion SAD labelled. Per-person stat panel shows confidence bar, visit count, and snapshot thumbnails.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3650" y="2422543"/>
            <a:ext cx="86370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Mixed Recognition (3 faces)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13">
            <a:off x="-2352705" y="-20299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73650" y="2105458"/>
            <a:ext cx="8637000" cy="3845058"/>
            <a:chOff x="0" y="0"/>
            <a:chExt cx="2759837" cy="12286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59838" cy="1228637"/>
            </a:xfrm>
            <a:custGeom>
              <a:avLst/>
              <a:gdLst/>
              <a:ahLst/>
              <a:cxnLst/>
              <a:rect r="r" b="b" t="t" l="l"/>
              <a:pathLst>
                <a:path h="1228637" w="2759838">
                  <a:moveTo>
                    <a:pt x="45715" y="0"/>
                  </a:moveTo>
                  <a:lnTo>
                    <a:pt x="2714123" y="0"/>
                  </a:lnTo>
                  <a:cubicBezTo>
                    <a:pt x="2739370" y="0"/>
                    <a:pt x="2759838" y="20467"/>
                    <a:pt x="2759838" y="45715"/>
                  </a:cubicBezTo>
                  <a:lnTo>
                    <a:pt x="2759838" y="1182922"/>
                  </a:lnTo>
                  <a:cubicBezTo>
                    <a:pt x="2759838" y="1208170"/>
                    <a:pt x="2739370" y="1228637"/>
                    <a:pt x="2714123" y="1228637"/>
                  </a:cubicBezTo>
                  <a:lnTo>
                    <a:pt x="45715" y="1228637"/>
                  </a:lnTo>
                  <a:cubicBezTo>
                    <a:pt x="20467" y="1228637"/>
                    <a:pt x="0" y="1208170"/>
                    <a:pt x="0" y="1182922"/>
                  </a:cubicBezTo>
                  <a:lnTo>
                    <a:pt x="0" y="45715"/>
                  </a:lnTo>
                  <a:cubicBezTo>
                    <a:pt x="0" y="20467"/>
                    <a:pt x="20467" y="0"/>
                    <a:pt x="45715" y="0"/>
                  </a:cubicBezTo>
                  <a:close/>
                </a:path>
              </a:pathLst>
            </a:custGeom>
            <a:solidFill>
              <a:srgbClr val="A6D1B7">
                <a:alpha val="4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59837" cy="1276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73650" y="2105458"/>
            <a:ext cx="8637000" cy="922001"/>
            <a:chOff x="0" y="0"/>
            <a:chExt cx="85855565" cy="91650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855566" cy="9165096"/>
            </a:xfrm>
            <a:custGeom>
              <a:avLst/>
              <a:gdLst/>
              <a:ahLst/>
              <a:cxnLst/>
              <a:rect r="r" b="b" t="t" l="l"/>
              <a:pathLst>
                <a:path h="9165096" w="85855566">
                  <a:moveTo>
                    <a:pt x="85550766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8860296"/>
                  </a:lnTo>
                  <a:cubicBezTo>
                    <a:pt x="0" y="9029206"/>
                    <a:pt x="135890" y="9165096"/>
                    <a:pt x="304800" y="9165096"/>
                  </a:cubicBezTo>
                  <a:lnTo>
                    <a:pt x="85550766" y="9165096"/>
                  </a:lnTo>
                  <a:cubicBezTo>
                    <a:pt x="85719673" y="9165096"/>
                    <a:pt x="85855566" y="9029206"/>
                    <a:pt x="85855566" y="8860296"/>
                  </a:cubicBezTo>
                  <a:lnTo>
                    <a:pt x="85855566" y="304800"/>
                  </a:lnTo>
                  <a:cubicBezTo>
                    <a:pt x="85855566" y="135890"/>
                    <a:pt x="85719673" y="0"/>
                    <a:pt x="85550766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327679" y="5143500"/>
            <a:ext cx="7931621" cy="3787349"/>
          </a:xfrm>
          <a:custGeom>
            <a:avLst/>
            <a:gdLst/>
            <a:ahLst/>
            <a:cxnLst/>
            <a:rect r="r" b="b" t="t" l="l"/>
            <a:pathLst>
              <a:path h="3787349" w="7931621">
                <a:moveTo>
                  <a:pt x="0" y="0"/>
                </a:moveTo>
                <a:lnTo>
                  <a:pt x="7931621" y="0"/>
                </a:lnTo>
                <a:lnTo>
                  <a:pt x="7931621" y="3787349"/>
                </a:lnTo>
                <a:lnTo>
                  <a:pt x="0" y="37873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92728" y="1165909"/>
            <a:ext cx="11227834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5350" y="3159211"/>
            <a:ext cx="8115300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Came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 Feed page: Achala recognised at 80% (yellow), two unknowns (orange, red), emotion FEAR displayed. Camera Info panel confirms 640×480, MediaPipe FD, ≥80% threshold, status RUNNING. Alert log shows auto camera reconnection events.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3650" y="2369635"/>
            <a:ext cx="86370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Camera Feed Dashboard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454813">
            <a:off x="15935295" y="837043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8176459" y="2595212"/>
            <a:ext cx="1935083" cy="1894926"/>
            <a:chOff x="-72390" y="7620"/>
            <a:chExt cx="6487160" cy="63525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3836" y="7620"/>
              <a:ext cx="6350053" cy="6352540"/>
            </a:xfrm>
            <a:custGeom>
              <a:avLst/>
              <a:gdLst/>
              <a:ahLst/>
              <a:cxnLst/>
              <a:rect r="r" b="b" t="t" l="l"/>
              <a:pathLst>
                <a:path h="6352540" w="6350053">
                  <a:moveTo>
                    <a:pt x="6253506" y="3176270"/>
                  </a:moveTo>
                  <a:cubicBezTo>
                    <a:pt x="6253506" y="2844800"/>
                    <a:pt x="6418606" y="2493010"/>
                    <a:pt x="6317006" y="2194560"/>
                  </a:cubicBezTo>
                  <a:cubicBezTo>
                    <a:pt x="6212866" y="1884680"/>
                    <a:pt x="5859806" y="1694180"/>
                    <a:pt x="5665496" y="1436370"/>
                  </a:cubicBezTo>
                  <a:cubicBezTo>
                    <a:pt x="5468646" y="1176020"/>
                    <a:pt x="5387366" y="796290"/>
                    <a:pt x="5116856" y="607060"/>
                  </a:cubicBezTo>
                  <a:cubicBezTo>
                    <a:pt x="4848886" y="420370"/>
                    <a:pt x="4448836" y="462280"/>
                    <a:pt x="4127526" y="360680"/>
                  </a:cubicBezTo>
                  <a:cubicBezTo>
                    <a:pt x="3816376" y="264160"/>
                    <a:pt x="3520466" y="0"/>
                    <a:pt x="3176296" y="0"/>
                  </a:cubicBezTo>
                  <a:cubicBezTo>
                    <a:pt x="2832126" y="0"/>
                    <a:pt x="2534946" y="262890"/>
                    <a:pt x="2225066" y="360680"/>
                  </a:cubicBezTo>
                  <a:cubicBezTo>
                    <a:pt x="1903756" y="461010"/>
                    <a:pt x="1502436" y="419100"/>
                    <a:pt x="1234466" y="607060"/>
                  </a:cubicBezTo>
                  <a:cubicBezTo>
                    <a:pt x="963956" y="796290"/>
                    <a:pt x="882676" y="1176020"/>
                    <a:pt x="685826" y="1436370"/>
                  </a:cubicBezTo>
                  <a:cubicBezTo>
                    <a:pt x="490246" y="1694180"/>
                    <a:pt x="138456" y="1884680"/>
                    <a:pt x="33046" y="2194560"/>
                  </a:cubicBezTo>
                  <a:cubicBezTo>
                    <a:pt x="-67284" y="2493010"/>
                    <a:pt x="96546" y="2844800"/>
                    <a:pt x="96546" y="3176270"/>
                  </a:cubicBezTo>
                  <a:cubicBezTo>
                    <a:pt x="96546" y="3507740"/>
                    <a:pt x="-68554" y="3859530"/>
                    <a:pt x="33046" y="4157980"/>
                  </a:cubicBezTo>
                  <a:cubicBezTo>
                    <a:pt x="137186" y="4467860"/>
                    <a:pt x="490246" y="4658360"/>
                    <a:pt x="684556" y="4916170"/>
                  </a:cubicBezTo>
                  <a:cubicBezTo>
                    <a:pt x="881406" y="5176520"/>
                    <a:pt x="962686" y="5556250"/>
                    <a:pt x="1233196" y="5745480"/>
                  </a:cubicBezTo>
                  <a:cubicBezTo>
                    <a:pt x="1501166" y="5933440"/>
                    <a:pt x="1901216" y="5891530"/>
                    <a:pt x="2223796" y="5991860"/>
                  </a:cubicBezTo>
                  <a:cubicBezTo>
                    <a:pt x="2534946" y="6088380"/>
                    <a:pt x="2830856" y="6352540"/>
                    <a:pt x="3175026" y="6352540"/>
                  </a:cubicBezTo>
                  <a:cubicBezTo>
                    <a:pt x="3519196" y="6352540"/>
                    <a:pt x="3816376" y="6089650"/>
                    <a:pt x="4126256" y="5991860"/>
                  </a:cubicBezTo>
                  <a:cubicBezTo>
                    <a:pt x="4447566" y="5891530"/>
                    <a:pt x="4848886" y="5933440"/>
                    <a:pt x="5116856" y="5745480"/>
                  </a:cubicBezTo>
                  <a:cubicBezTo>
                    <a:pt x="5387366" y="5556250"/>
                    <a:pt x="5468646" y="5176520"/>
                    <a:pt x="5665496" y="4916170"/>
                  </a:cubicBezTo>
                  <a:cubicBezTo>
                    <a:pt x="5861076" y="4658360"/>
                    <a:pt x="6212866" y="4467860"/>
                    <a:pt x="6317006" y="4157980"/>
                  </a:cubicBezTo>
                  <a:cubicBezTo>
                    <a:pt x="6418606" y="3858260"/>
                    <a:pt x="6253506" y="3506470"/>
                    <a:pt x="6253506" y="3176270"/>
                  </a:cubicBezTo>
                  <a:close/>
                </a:path>
              </a:pathLst>
            </a:custGeom>
            <a:solidFill>
              <a:srgbClr val="33A68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90329" y="2770684"/>
            <a:ext cx="849316" cy="84931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48355" y="2770684"/>
            <a:ext cx="849316" cy="84931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02296" y="4461576"/>
            <a:ext cx="849316" cy="84931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719342" y="5177961"/>
            <a:ext cx="849316" cy="84931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740940" y="4461576"/>
            <a:ext cx="849316" cy="84931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44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7334641" y="3260734"/>
            <a:ext cx="871044" cy="135729"/>
          </a:xfrm>
          <a:prstGeom prst="line">
            <a:avLst/>
          </a:prstGeom>
          <a:ln cap="flat" w="19050">
            <a:solidFill>
              <a:srgbClr val="3C567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7480420" y="4045968"/>
            <a:ext cx="908002" cy="604822"/>
          </a:xfrm>
          <a:prstGeom prst="line">
            <a:avLst/>
          </a:prstGeom>
          <a:ln cap="flat" w="19050">
            <a:solidFill>
              <a:srgbClr val="3C567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9144000" y="4490139"/>
            <a:ext cx="0" cy="687822"/>
          </a:xfrm>
          <a:prstGeom prst="line">
            <a:avLst/>
          </a:prstGeom>
          <a:ln cap="flat" w="19050">
            <a:solidFill>
              <a:srgbClr val="3C567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H="true" flipV="true">
            <a:off x="9900244" y="4045277"/>
            <a:ext cx="911642" cy="605880"/>
          </a:xfrm>
          <a:prstGeom prst="line">
            <a:avLst/>
          </a:prstGeom>
          <a:ln cap="flat" w="19050">
            <a:solidFill>
              <a:srgbClr val="3C567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>
            <a:off x="10082457" y="3260734"/>
            <a:ext cx="870902" cy="135707"/>
          </a:xfrm>
          <a:prstGeom prst="line">
            <a:avLst/>
          </a:prstGeom>
          <a:ln cap="flat" w="19050">
            <a:solidFill>
              <a:srgbClr val="3C567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7662312" y="477312"/>
            <a:ext cx="1251376" cy="1102775"/>
          </a:xfrm>
          <a:custGeom>
            <a:avLst/>
            <a:gdLst/>
            <a:ahLst/>
            <a:cxnLst/>
            <a:rect r="r" b="b" t="t" l="l"/>
            <a:pathLst>
              <a:path h="1102775" w="1251376">
                <a:moveTo>
                  <a:pt x="0" y="0"/>
                </a:moveTo>
                <a:lnTo>
                  <a:pt x="1251376" y="0"/>
                </a:lnTo>
                <a:lnTo>
                  <a:pt x="1251376" y="1102776"/>
                </a:lnTo>
                <a:lnTo>
                  <a:pt x="0" y="11027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950735">
            <a:off x="-350329" y="9900446"/>
            <a:ext cx="1601828" cy="588672"/>
          </a:xfrm>
          <a:custGeom>
            <a:avLst/>
            <a:gdLst/>
            <a:ahLst/>
            <a:cxnLst/>
            <a:rect r="r" b="b" t="t" l="l"/>
            <a:pathLst>
              <a:path h="588672" w="1601828">
                <a:moveTo>
                  <a:pt x="0" y="0"/>
                </a:moveTo>
                <a:lnTo>
                  <a:pt x="1601828" y="0"/>
                </a:lnTo>
                <a:lnTo>
                  <a:pt x="1601828" y="588672"/>
                </a:lnTo>
                <a:lnTo>
                  <a:pt x="0" y="5886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698092" y="3050208"/>
            <a:ext cx="891817" cy="891817"/>
          </a:xfrm>
          <a:custGeom>
            <a:avLst/>
            <a:gdLst/>
            <a:ahLst/>
            <a:cxnLst/>
            <a:rect r="r" b="b" t="t" l="l"/>
            <a:pathLst>
              <a:path h="891817" w="891817">
                <a:moveTo>
                  <a:pt x="0" y="0"/>
                </a:moveTo>
                <a:lnTo>
                  <a:pt x="891816" y="0"/>
                </a:lnTo>
                <a:lnTo>
                  <a:pt x="891816" y="891817"/>
                </a:lnTo>
                <a:lnTo>
                  <a:pt x="0" y="8918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689719" y="2958218"/>
            <a:ext cx="450536" cy="474248"/>
          </a:xfrm>
          <a:custGeom>
            <a:avLst/>
            <a:gdLst/>
            <a:ahLst/>
            <a:cxnLst/>
            <a:rect r="r" b="b" t="t" l="l"/>
            <a:pathLst>
              <a:path h="474248" w="450536">
                <a:moveTo>
                  <a:pt x="0" y="0"/>
                </a:moveTo>
                <a:lnTo>
                  <a:pt x="450536" y="0"/>
                </a:lnTo>
                <a:lnTo>
                  <a:pt x="450536" y="474248"/>
                </a:lnTo>
                <a:lnTo>
                  <a:pt x="0" y="4742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393467" y="1134073"/>
            <a:ext cx="9501066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22010" y="2538062"/>
            <a:ext cx="527829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Smart Attendance System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2010" y="3125060"/>
            <a:ext cx="5682485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3000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Automat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ically logs check-i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n/ch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ck-o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ut with emotion data vi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a fa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ce recognition, eli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minat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ing manu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al 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registers.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67259" y="5736442"/>
            <a:ext cx="496802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Assistive Technology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67259" y="6326992"/>
            <a:ext cx="5479139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3000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elps differently-abled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users interact 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thro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ugh gaze tracking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and voice commands without physical touch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599271" y="7094076"/>
            <a:ext cx="58313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</a:t>
            </a:r>
            <a:r>
              <a:rPr lang="en-US" b="true" sz="300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 Resea</a:t>
            </a:r>
            <a:r>
              <a:rPr lang="en-US" b="true" sz="300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rch P</a:t>
            </a:r>
            <a:r>
              <a:rPr lang="en-US" b="true" sz="300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</a:t>
            </a:r>
            <a:r>
              <a:rPr lang="en-US" b="true" sz="300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atform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599271" y="7711931"/>
            <a:ext cx="5599902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3000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Low-co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st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odula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r testbed for pan-tilt tracking, servo c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ontrol,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and vision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-based navigation experiments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96701" y="6019905"/>
            <a:ext cx="424132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</a:t>
            </a:r>
            <a:r>
              <a:rPr lang="en-US" b="true" sz="300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</a:t>
            </a:r>
            <a:r>
              <a:rPr lang="en-US" b="true" sz="300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ractive Kio</a:t>
            </a:r>
            <a:r>
              <a:rPr lang="en-US" b="true" sz="300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300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</a:t>
            </a:r>
            <a:r>
              <a:rPr lang="en-US" b="true" sz="300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93435" y="6511594"/>
            <a:ext cx="5661019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3000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ble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s hands-free, voice-controlled interaction at reception desks or public information terminals.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6901685" y="4651157"/>
            <a:ext cx="450536" cy="474248"/>
          </a:xfrm>
          <a:custGeom>
            <a:avLst/>
            <a:gdLst/>
            <a:ahLst/>
            <a:cxnLst/>
            <a:rect r="r" b="b" t="t" l="l"/>
            <a:pathLst>
              <a:path h="474248" w="450536">
                <a:moveTo>
                  <a:pt x="0" y="0"/>
                </a:moveTo>
                <a:lnTo>
                  <a:pt x="450536" y="0"/>
                </a:lnTo>
                <a:lnTo>
                  <a:pt x="450536" y="474248"/>
                </a:lnTo>
                <a:lnTo>
                  <a:pt x="0" y="4742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8925884" y="5365494"/>
            <a:ext cx="450536" cy="474248"/>
          </a:xfrm>
          <a:custGeom>
            <a:avLst/>
            <a:gdLst/>
            <a:ahLst/>
            <a:cxnLst/>
            <a:rect r="r" b="b" t="t" l="l"/>
            <a:pathLst>
              <a:path h="474248" w="450536">
                <a:moveTo>
                  <a:pt x="0" y="0"/>
                </a:moveTo>
                <a:lnTo>
                  <a:pt x="450536" y="0"/>
                </a:lnTo>
                <a:lnTo>
                  <a:pt x="450536" y="474249"/>
                </a:lnTo>
                <a:lnTo>
                  <a:pt x="0" y="4742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0940329" y="4649110"/>
            <a:ext cx="450536" cy="474248"/>
          </a:xfrm>
          <a:custGeom>
            <a:avLst/>
            <a:gdLst/>
            <a:ahLst/>
            <a:cxnLst/>
            <a:rect r="r" b="b" t="t" l="l"/>
            <a:pathLst>
              <a:path h="474248" w="450536">
                <a:moveTo>
                  <a:pt x="0" y="0"/>
                </a:moveTo>
                <a:lnTo>
                  <a:pt x="450536" y="0"/>
                </a:lnTo>
                <a:lnTo>
                  <a:pt x="450536" y="474248"/>
                </a:lnTo>
                <a:lnTo>
                  <a:pt x="0" y="4742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1147745" y="2958218"/>
            <a:ext cx="450536" cy="474248"/>
          </a:xfrm>
          <a:custGeom>
            <a:avLst/>
            <a:gdLst/>
            <a:ahLst/>
            <a:cxnLst/>
            <a:rect r="r" b="b" t="t" l="l"/>
            <a:pathLst>
              <a:path h="474248" w="450536">
                <a:moveTo>
                  <a:pt x="0" y="0"/>
                </a:moveTo>
                <a:lnTo>
                  <a:pt x="450536" y="0"/>
                </a:lnTo>
                <a:lnTo>
                  <a:pt x="450536" y="474248"/>
                </a:lnTo>
                <a:lnTo>
                  <a:pt x="0" y="4742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2449637" y="2626810"/>
            <a:ext cx="527829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Security Surveillance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449637" y="3213808"/>
            <a:ext cx="5682485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3000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Dete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cts and tracks unknown individua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ls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real time, triggerin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g 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ler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s and sav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ing sna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pshots for</a:t>
            </a:r>
            <a:r>
              <a:rPr lang="en-US" sz="3000" strike="noStrike" u="none">
                <a:solidFill>
                  <a:srgbClr val="3B3B3B"/>
                </a:solidFill>
                <a:latin typeface="Canva Sans"/>
                <a:ea typeface="Canva Sans"/>
                <a:cs typeface="Canva Sans"/>
                <a:sym typeface="Canva Sans"/>
              </a:rPr>
              <a:t> review.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48761" y="2162318"/>
            <a:ext cx="16263908" cy="7571415"/>
            <a:chOff x="0" y="0"/>
            <a:chExt cx="4283498" cy="1994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83498" cy="1994118"/>
            </a:xfrm>
            <a:custGeom>
              <a:avLst/>
              <a:gdLst/>
              <a:ahLst/>
              <a:cxnLst/>
              <a:rect r="r" b="b" t="t" l="l"/>
              <a:pathLst>
                <a:path h="1994118" w="4283498">
                  <a:moveTo>
                    <a:pt x="0" y="0"/>
                  </a:moveTo>
                  <a:lnTo>
                    <a:pt x="4283498" y="0"/>
                  </a:lnTo>
                  <a:lnTo>
                    <a:pt x="4283498" y="1994118"/>
                  </a:lnTo>
                  <a:lnTo>
                    <a:pt x="0" y="1994118"/>
                  </a:lnTo>
                  <a:close/>
                </a:path>
              </a:pathLst>
            </a:custGeom>
            <a:solidFill>
              <a:srgbClr val="A6D1B7">
                <a:alpha val="5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283498" cy="2051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569354" y="3536070"/>
            <a:ext cx="2925927" cy="4310758"/>
          </a:xfrm>
          <a:custGeom>
            <a:avLst/>
            <a:gdLst/>
            <a:ahLst/>
            <a:cxnLst/>
            <a:rect r="r" b="b" t="t" l="l"/>
            <a:pathLst>
              <a:path h="4310758" w="2925927">
                <a:moveTo>
                  <a:pt x="0" y="0"/>
                </a:moveTo>
                <a:lnTo>
                  <a:pt x="2925927" y="0"/>
                </a:lnTo>
                <a:lnTo>
                  <a:pt x="2925927" y="4310757"/>
                </a:lnTo>
                <a:lnTo>
                  <a:pt x="0" y="43107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30287" y="2279547"/>
            <a:ext cx="15864994" cy="789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730"/>
              </a:lnSpc>
              <a:buFont typeface="Arial"/>
              <a:buChar char="•"/>
            </a:pPr>
            <a:r>
              <a:rPr lang="en-US" sz="3000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Successfully demonstrated real-time face detection, recognition, and servo tracking on a standard laptop + Arduino Uno.</a:t>
            </a:r>
          </a:p>
          <a:p>
            <a:pPr algn="l" marL="647700" indent="-323850" lvl="1">
              <a:lnSpc>
                <a:spcPts val="5730"/>
              </a:lnSpc>
              <a:buFont typeface="Arial"/>
              <a:buChar char="•"/>
            </a:pPr>
            <a:r>
              <a:rPr lang="en-US" sz="3000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Replacing Raspberry Pi with direct USB serial achieved lower latency, improved stability, reduced complexity, and lower cost.</a:t>
            </a:r>
          </a:p>
          <a:p>
            <a:pPr algn="l" marL="647700" indent="-323850" lvl="1">
              <a:lnSpc>
                <a:spcPts val="5730"/>
              </a:lnSpc>
              <a:buFont typeface="Arial"/>
              <a:buChar char="•"/>
            </a:pPr>
            <a:r>
              <a:rPr lang="en-US" sz="3000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Proportional controller with EMA smoothing and deadzone filtering ensures stable tracking even under noisy detection.</a:t>
            </a:r>
          </a:p>
          <a:p>
            <a:pPr algn="l" marL="647700" indent="-323850" lvl="1">
              <a:lnSpc>
                <a:spcPts val="5730"/>
              </a:lnSpc>
              <a:buFont typeface="Arial"/>
              <a:buChar char="•"/>
            </a:pPr>
            <a:r>
              <a:rPr lang="en-US" sz="3000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Flask dashboard delivers live video streaming, attendance management, enrollment, and AI-powered monitoring.</a:t>
            </a:r>
          </a:p>
          <a:p>
            <a:pPr algn="l" marL="647700" indent="-323850" lvl="1">
              <a:lnSpc>
                <a:spcPts val="5730"/>
              </a:lnSpc>
              <a:buFont typeface="Arial"/>
              <a:buChar char="•"/>
            </a:pPr>
            <a:r>
              <a:rPr lang="en-US" sz="3000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Modular architecture is readily extensible for smart surveillance, automated attendance, and assistive robotics.</a:t>
            </a:r>
          </a:p>
          <a:p>
            <a:pPr algn="l" marL="0" indent="0" lvl="1">
              <a:lnSpc>
                <a:spcPts val="573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48761" y="1070659"/>
            <a:ext cx="10883864" cy="162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</a:t>
            </a:r>
          </a:p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48761" y="2162318"/>
            <a:ext cx="16263908" cy="7058260"/>
            <a:chOff x="0" y="0"/>
            <a:chExt cx="4283498" cy="1858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83498" cy="1858966"/>
            </a:xfrm>
            <a:custGeom>
              <a:avLst/>
              <a:gdLst/>
              <a:ahLst/>
              <a:cxnLst/>
              <a:rect r="r" b="b" t="t" l="l"/>
              <a:pathLst>
                <a:path h="1858966" w="4283498">
                  <a:moveTo>
                    <a:pt x="0" y="0"/>
                  </a:moveTo>
                  <a:lnTo>
                    <a:pt x="4283498" y="0"/>
                  </a:lnTo>
                  <a:lnTo>
                    <a:pt x="4283498" y="1858966"/>
                  </a:lnTo>
                  <a:lnTo>
                    <a:pt x="0" y="1858966"/>
                  </a:lnTo>
                  <a:close/>
                </a:path>
              </a:pathLst>
            </a:custGeom>
            <a:solidFill>
              <a:srgbClr val="A6D1B7">
                <a:alpha val="5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283498" cy="1916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569354" y="3536070"/>
            <a:ext cx="2925927" cy="4310758"/>
          </a:xfrm>
          <a:custGeom>
            <a:avLst/>
            <a:gdLst/>
            <a:ahLst/>
            <a:cxnLst/>
            <a:rect r="r" b="b" t="t" l="l"/>
            <a:pathLst>
              <a:path h="4310758" w="2925927">
                <a:moveTo>
                  <a:pt x="0" y="0"/>
                </a:moveTo>
                <a:lnTo>
                  <a:pt x="2925927" y="0"/>
                </a:lnTo>
                <a:lnTo>
                  <a:pt x="2925927" y="4310757"/>
                </a:lnTo>
                <a:lnTo>
                  <a:pt x="0" y="43107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30287" y="2279547"/>
            <a:ext cx="15864994" cy="716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730"/>
              </a:lnSpc>
              <a:buFont typeface="Arial"/>
              <a:buChar char="•"/>
            </a:pPr>
            <a:r>
              <a:rPr lang="en-US" sz="3000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Replace SG90 with stepper motor for smoother full 360° rotation; add multi-camera coverage.</a:t>
            </a:r>
          </a:p>
          <a:p>
            <a:pPr algn="l" marL="647700" indent="-323850" lvl="1">
              <a:lnSpc>
                <a:spcPts val="5730"/>
              </a:lnSpc>
              <a:buFont typeface="Arial"/>
              <a:buChar char="•"/>
            </a:pPr>
            <a:r>
              <a:rPr lang="en-US" sz="3000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Integrate YOLOv8 for improved multi-object tracking; deploy on NVIDIA Jetson Nano / Raspberry Pi 5.</a:t>
            </a:r>
          </a:p>
          <a:p>
            <a:pPr algn="l" marL="647700" indent="-323850" lvl="1">
              <a:lnSpc>
                <a:spcPts val="5730"/>
              </a:lnSpc>
              <a:buFont typeface="Arial"/>
              <a:buChar char="•"/>
            </a:pPr>
            <a:r>
              <a:rPr lang="en-US" sz="3000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Add gesture-based control (MediaPipe Hands) and voice commands via OpenAI Whisper.</a:t>
            </a:r>
          </a:p>
          <a:p>
            <a:pPr algn="l" marL="647700" indent="-323850" lvl="1">
              <a:lnSpc>
                <a:spcPts val="5730"/>
              </a:lnSpc>
              <a:buFont typeface="Arial"/>
              <a:buChar char="•"/>
            </a:pPr>
            <a:r>
              <a:rPr lang="en-US" sz="3000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Cloud integration via Firebase / AWS; vibration stabilisation using IMU sensors.</a:t>
            </a:r>
          </a:p>
          <a:p>
            <a:pPr algn="l" marL="647700" indent="-323850" lvl="1">
              <a:lnSpc>
                <a:spcPts val="5730"/>
              </a:lnSpc>
              <a:buFont typeface="Arial"/>
              <a:buChar char="•"/>
            </a:pPr>
            <a:r>
              <a:rPr lang="en-US" sz="3000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Reinforcement learning-based adaptive controller to auto-optimise tracking without manual calibration.</a:t>
            </a:r>
          </a:p>
          <a:p>
            <a:pPr algn="l" marL="0" indent="0" lvl="1">
              <a:lnSpc>
                <a:spcPts val="573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48761" y="1070659"/>
            <a:ext cx="10883864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UT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UR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5760" y="1879531"/>
            <a:ext cx="17556480" cy="873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4965"/>
              </a:lnSpc>
              <a:buAutoNum type="arabicPeriod" startAt="1"/>
            </a:pPr>
            <a:r>
              <a:rPr lang="en-US" sz="2599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Viola P. &amp; Jones M. (2001). Rapid Object Detection using a Boosted Cascade of Simple Features. IEEE CVPR.</a:t>
            </a:r>
          </a:p>
          <a:p>
            <a:pPr algn="l" marL="561337" indent="-280669" lvl="1">
              <a:lnSpc>
                <a:spcPts val="4965"/>
              </a:lnSpc>
              <a:buAutoNum type="arabicPeriod" startAt="1"/>
            </a:pPr>
            <a:r>
              <a:rPr lang="en-US" sz="2599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Redmon J. et al. (2016). You Only Look Once: Unified, Real-Time Object Detection. IEEE CVPR.</a:t>
            </a:r>
          </a:p>
          <a:p>
            <a:pPr algn="l" marL="561337" indent="-280669" lvl="1">
              <a:lnSpc>
                <a:spcPts val="4965"/>
              </a:lnSpc>
              <a:buAutoNum type="arabicPeriod" startAt="1"/>
            </a:pPr>
            <a:r>
              <a:rPr lang="en-US" sz="2599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Lugaresi C. et al. (2019). MediaPipe: A Framework for Building Perception Pipelines. IEEE CVPR Workshops.</a:t>
            </a:r>
          </a:p>
          <a:p>
            <a:pPr algn="l" marL="561337" indent="-280669" lvl="1">
              <a:lnSpc>
                <a:spcPts val="4965"/>
              </a:lnSpc>
              <a:buAutoNum type="arabicPeriod" startAt="1"/>
            </a:pPr>
            <a:r>
              <a:rPr lang="en-US" sz="2599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Deng J. et al. (2019). ArcFace: Additive Angular Margin Loss for Deep Face Recognition. IEEE CVPR.</a:t>
            </a:r>
          </a:p>
          <a:p>
            <a:pPr algn="l" marL="561337" indent="-280669" lvl="1">
              <a:lnSpc>
                <a:spcPts val="4965"/>
              </a:lnSpc>
              <a:buAutoNum type="arabicPeriod" startAt="1"/>
            </a:pPr>
            <a:r>
              <a:rPr lang="en-US" sz="2599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Taigman Y. et al. (2014). DeepFace: Closing the Gap to Human-Level Performance in Face Verification. IEEE CVPR.</a:t>
            </a:r>
          </a:p>
          <a:p>
            <a:pPr algn="l" marL="561337" indent="-280669" lvl="1">
              <a:lnSpc>
                <a:spcPts val="4965"/>
              </a:lnSpc>
              <a:buAutoNum type="arabicPeriod" startAt="1"/>
            </a:pPr>
            <a:r>
              <a:rPr lang="en-US" sz="2599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 OpenCV Documentation — https://opencv.org</a:t>
            </a:r>
          </a:p>
          <a:p>
            <a:pPr algn="l" marL="561337" indent="-280669" lvl="1">
              <a:lnSpc>
                <a:spcPts val="4965"/>
              </a:lnSpc>
              <a:buAutoNum type="arabicPeriod" startAt="1"/>
            </a:pPr>
            <a:r>
              <a:rPr lang="en-US" sz="2599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Shinde A. &amp; Kulkarni P. (2024). Smart Mirror Interface Using Interactive Vision Systems. IEEE HCI Conference.</a:t>
            </a:r>
          </a:p>
          <a:p>
            <a:pPr algn="l" marL="561337" indent="-280669" lvl="1">
              <a:lnSpc>
                <a:spcPts val="4965"/>
              </a:lnSpc>
              <a:buAutoNum type="arabicPeriod" startAt="1"/>
            </a:pPr>
            <a:r>
              <a:rPr lang="en-US" sz="2599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MediaPipe Documentation — https://mediapipe.dev</a:t>
            </a:r>
          </a:p>
          <a:p>
            <a:pPr algn="l" marL="561337" indent="-280669" lvl="1">
              <a:lnSpc>
                <a:spcPts val="4965"/>
              </a:lnSpc>
              <a:buAutoNum type="arabicPeriod" startAt="1"/>
            </a:pPr>
            <a:r>
              <a:rPr lang="en-US" sz="2599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Arduino Servo Motor Control Basics — https://www.arduino.cc</a:t>
            </a:r>
          </a:p>
          <a:p>
            <a:pPr algn="l">
              <a:lnSpc>
                <a:spcPts val="496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25081" y="950370"/>
            <a:ext cx="10883864" cy="162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  <a:spcBef>
                <a:spcPct val="0"/>
              </a:spcBef>
            </a:pPr>
            <a:r>
              <a:rPr lang="en-US" b="true" sz="4699" spc="140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</a:t>
            </a:r>
            <a:r>
              <a:rPr lang="en-US" b="true" sz="4699" spc="140" strike="noStrike" u="none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RENCES</a:t>
            </a:r>
          </a:p>
          <a:p>
            <a:pPr algn="l" marL="0" indent="0" lvl="1">
              <a:lnSpc>
                <a:spcPts val="657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13">
            <a:off x="-2483928" y="-1763293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454813">
            <a:off x="15935295" y="8732386"/>
            <a:ext cx="4705411" cy="3723156"/>
          </a:xfrm>
          <a:custGeom>
            <a:avLst/>
            <a:gdLst/>
            <a:ahLst/>
            <a:cxnLst/>
            <a:rect r="r" b="b" t="t" l="l"/>
            <a:pathLst>
              <a:path h="3723156" w="4705411">
                <a:moveTo>
                  <a:pt x="0" y="0"/>
                </a:moveTo>
                <a:lnTo>
                  <a:pt x="4705410" y="0"/>
                </a:lnTo>
                <a:lnTo>
                  <a:pt x="4705410" y="3723156"/>
                </a:lnTo>
                <a:lnTo>
                  <a:pt x="0" y="3723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92473">
            <a:off x="-273048" y="9830796"/>
            <a:ext cx="2451944" cy="763167"/>
          </a:xfrm>
          <a:custGeom>
            <a:avLst/>
            <a:gdLst/>
            <a:ahLst/>
            <a:cxnLst/>
            <a:rect r="r" b="b" t="t" l="l"/>
            <a:pathLst>
              <a:path h="763167" w="2451944">
                <a:moveTo>
                  <a:pt x="0" y="0"/>
                </a:moveTo>
                <a:lnTo>
                  <a:pt x="2451943" y="0"/>
                </a:lnTo>
                <a:lnTo>
                  <a:pt x="2451943" y="763168"/>
                </a:lnTo>
                <a:lnTo>
                  <a:pt x="0" y="763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688559" y="1854954"/>
            <a:ext cx="8910883" cy="623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987"/>
              </a:lnSpc>
              <a:spcBef>
                <a:spcPct val="0"/>
              </a:spcBef>
            </a:pPr>
            <a:r>
              <a:rPr lang="en-US" b="true" sz="17847" spc="535">
                <a:solidFill>
                  <a:srgbClr val="0D0D0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286318" y="182382"/>
            <a:ext cx="1895244" cy="1707427"/>
          </a:xfrm>
          <a:custGeom>
            <a:avLst/>
            <a:gdLst/>
            <a:ahLst/>
            <a:cxnLst/>
            <a:rect r="r" b="b" t="t" l="l"/>
            <a:pathLst>
              <a:path h="1707427" w="1895244">
                <a:moveTo>
                  <a:pt x="0" y="0"/>
                </a:moveTo>
                <a:lnTo>
                  <a:pt x="1895243" y="0"/>
                </a:lnTo>
                <a:lnTo>
                  <a:pt x="1895243" y="1707427"/>
                </a:lnTo>
                <a:lnTo>
                  <a:pt x="0" y="17074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DAGz_kYmfsQ</dc:identifier>
  <dcterms:modified xsi:type="dcterms:W3CDTF">2011-08-01T06:04:30Z</dcterms:modified>
  <cp:revision>1</cp:revision>
  <dc:title>mega project</dc:title>
</cp:coreProperties>
</file>